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521135"/>
  <p:notesSz cx="6521135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ad-uid:rect-1"/>
          <p:cNvSpPr/>
          <p:nvPr/>
        </p:nvSpPr>
        <p:spPr>
          <a:xfrm>
            <a:off x="0" y="0"/>
            <a:ext cx="12191695" cy="6521135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3" name="text ad-title ad-uid:text-2"/>
          <p:cNvSpPr/>
          <p:nvPr/>
        </p:nvSpPr>
        <p:spPr>
          <a:xfrm>
            <a:off x="510327" y="331196"/>
            <a:ext cx="3490722" cy="34948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98" b="1" dirty="0">
                <a:solidFill>
                  <a:srgbClr val="16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Pipeline</a:t>
            </a:r>
            <a:endParaRPr lang="en-US" sz="1898" dirty="0"/>
          </a:p>
        </p:txBody>
      </p:sp>
      <p:sp>
        <p:nvSpPr>
          <p:cNvPr id="4" name="text ad-subtitle ad-uid:text-3"/>
          <p:cNvSpPr/>
          <p:nvPr/>
        </p:nvSpPr>
        <p:spPr>
          <a:xfrm>
            <a:off x="510327" y="661203"/>
            <a:ext cx="7289871" cy="16440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893" dirty="0">
                <a:solidFill>
                  <a:srgbClr val="56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report-ready example showing how raw source data becomes governed metrics and business-facing dashboards.</a:t>
            </a:r>
            <a:endParaRPr lang="en-US" sz="893" dirty="0"/>
          </a:p>
        </p:txBody>
      </p:sp>
      <p:sp>
        <p:nvSpPr>
          <p:cNvPr id="5" name="rect lane-box ad-uid:rect-4"/>
          <p:cNvSpPr/>
          <p:nvPr/>
        </p:nvSpPr>
        <p:spPr>
          <a:xfrm>
            <a:off x="368595" y="1332555"/>
            <a:ext cx="11454506" cy="4111142"/>
          </a:xfrm>
          <a:prstGeom prst="roundRect">
            <a:avLst>
              <a:gd name="adj" fmla="val 1074"/>
            </a:avLst>
          </a:prstGeom>
          <a:solidFill>
            <a:srgbClr val="FFFFFF">
              <a:alpha val="58000"/>
            </a:srgbClr>
          </a:solidFill>
          <a:ln w="10668" cap="flat">
            <a:solidFill>
              <a:srgbClr val="4F7086">
                <a:alpha val="16000"/>
              </a:srgbClr>
            </a:solidFill>
            <a:prstDash val="solid"/>
            <a:miter lim="800000"/>
          </a:ln>
        </p:spPr>
      </p:sp>
      <p:sp>
        <p:nvSpPr>
          <p:cNvPr id="6" name="text ad-group-title ad-uid:text-5"/>
          <p:cNvSpPr/>
          <p:nvPr/>
        </p:nvSpPr>
        <p:spPr>
          <a:xfrm>
            <a:off x="595366" y="1432133"/>
            <a:ext cx="1179027" cy="1335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726" b="1" spc="58" kern="0" dirty="0">
                <a:solidFill>
                  <a:srgbClr val="3F5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VALUE CHAIN</a:t>
            </a:r>
            <a:endParaRPr lang="en-US" sz="726" dirty="0"/>
          </a:p>
        </p:txBody>
      </p:sp>
      <p:sp>
        <p:nvSpPr>
          <p:cNvPr id="7" name="rect summary-card ad-note-box ad-uid:rect-6"/>
          <p:cNvSpPr/>
          <p:nvPr/>
        </p:nvSpPr>
        <p:spPr>
          <a:xfrm>
            <a:off x="7903342" y="368595"/>
            <a:ext cx="3792200" cy="793882"/>
          </a:xfrm>
          <a:prstGeom prst="roundRect">
            <a:avLst>
              <a:gd name="adj" fmla="val 24683"/>
            </a:avLst>
          </a:prstGeom>
          <a:solidFill>
            <a:srgbClr val="126A72"/>
          </a:solidFill>
          <a:ln/>
        </p:spPr>
      </p:sp>
      <p:sp>
        <p:nvSpPr>
          <p:cNvPr id="8" name="text summary-card ad-note-title ad-uid:text-7"/>
          <p:cNvSpPr/>
          <p:nvPr/>
        </p:nvSpPr>
        <p:spPr>
          <a:xfrm>
            <a:off x="8101767" y="521665"/>
            <a:ext cx="3395259" cy="205557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111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Message</a:t>
            </a:r>
            <a:endParaRPr lang="en-US" sz="1116" dirty="0"/>
          </a:p>
        </p:txBody>
      </p:sp>
      <p:sp>
        <p:nvSpPr>
          <p:cNvPr id="9" name="text summary-card ad-note-body ad-uid:text-8"/>
          <p:cNvSpPr/>
          <p:nvPr/>
        </p:nvSpPr>
        <p:spPr>
          <a:xfrm>
            <a:off x="8101767" y="745145"/>
            <a:ext cx="3395259" cy="278526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5700"/>
              </a:lnSpc>
              <a:buNone/>
            </a:pPr>
            <a:r>
              <a:rPr lang="en-US" altLang="en-US" sz="781" dirty="0">
                <a:solidFill>
                  <a:srgbClr val="D9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follows one clean chain:</a:t>
            </a:r>
            <a:br/>
            <a:pPr algn="ctr" indent="0" marL="0">
              <a:lnSpc>
                <a:spcPct val="135700"/>
              </a:lnSpc>
              <a:buNone/>
            </a:pPr>
            <a:r>
              <a:rPr lang="en-US" altLang="en-US" sz="781" dirty="0">
                <a:solidFill>
                  <a:srgbClr val="D9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ingest, store, model, serve, then drive business action.</a:t>
            </a:r>
            <a:endParaRPr lang="en-US" sz="781" dirty="0"/>
          </a:p>
        </p:txBody>
      </p:sp>
      <p:sp>
        <p:nvSpPr>
          <p:cNvPr id="10" name="rect data-production ad-group-box ad-uid:rect-9"/>
          <p:cNvSpPr/>
          <p:nvPr/>
        </p:nvSpPr>
        <p:spPr>
          <a:xfrm>
            <a:off x="510327" y="1672803"/>
            <a:ext cx="3728375" cy="2339127"/>
          </a:xfrm>
          <a:prstGeom prst="roundRect">
            <a:avLst>
              <a:gd name="adj" fmla="val 2842"/>
            </a:avLst>
          </a:prstGeom>
          <a:solidFill>
            <a:srgbClr val="F8FBFD"/>
          </a:solidFill>
          <a:ln w="7112" cap="flat">
            <a:solidFill>
              <a:srgbClr val="D7E3EA"/>
            </a:solidFill>
            <a:prstDash val="solid"/>
            <a:miter lim="800000"/>
          </a:ln>
        </p:spPr>
      </p:sp>
      <p:sp>
        <p:nvSpPr>
          <p:cNvPr id="11" name="text data-production ad-group-title ad-uid:text-10"/>
          <p:cNvSpPr/>
          <p:nvPr/>
        </p:nvSpPr>
        <p:spPr>
          <a:xfrm>
            <a:off x="708843" y="1786463"/>
            <a:ext cx="1136233" cy="1335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726" b="1" spc="58" kern="0" dirty="0">
                <a:solidFill>
                  <a:srgbClr val="3F5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PRODUCTION</a:t>
            </a:r>
            <a:endParaRPr lang="en-US" sz="726" dirty="0"/>
          </a:p>
        </p:txBody>
      </p:sp>
      <p:sp>
        <p:nvSpPr>
          <p:cNvPr id="12" name="rect modeling-consumption ad-group-box ad-uid:rect-11"/>
          <p:cNvSpPr/>
          <p:nvPr/>
        </p:nvSpPr>
        <p:spPr>
          <a:xfrm>
            <a:off x="4224528" y="1672803"/>
            <a:ext cx="7598573" cy="3416473"/>
          </a:xfrm>
          <a:prstGeom prst="roundRect">
            <a:avLst>
              <a:gd name="adj" fmla="val 1333"/>
            </a:avLst>
          </a:prstGeom>
          <a:solidFill>
            <a:srgbClr val="FBFCFE"/>
          </a:solidFill>
          <a:ln w="7112" cap="flat">
            <a:solidFill>
              <a:srgbClr val="D7E3EA"/>
            </a:solidFill>
            <a:prstDash val="solid"/>
            <a:miter lim="800000"/>
          </a:ln>
        </p:spPr>
      </p:sp>
      <p:sp>
        <p:nvSpPr>
          <p:cNvPr id="13" name="text modeling-consumption ad-group-title ad-uid:text-12"/>
          <p:cNvSpPr/>
          <p:nvPr/>
        </p:nvSpPr>
        <p:spPr>
          <a:xfrm>
            <a:off x="4309659" y="1786463"/>
            <a:ext cx="1708465" cy="1335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726" b="1" spc="58" kern="0" dirty="0">
                <a:solidFill>
                  <a:srgbClr val="3F5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 TO CONSUMPTION</a:t>
            </a:r>
            <a:endParaRPr lang="en-US" sz="726" dirty="0"/>
          </a:p>
        </p:txBody>
      </p:sp>
      <p:sp>
        <p:nvSpPr>
          <p:cNvPr id="14" name="rect sources data-production ad-node-box ad-uid:rect-13"/>
          <p:cNvSpPr/>
          <p:nvPr/>
        </p:nvSpPr>
        <p:spPr>
          <a:xfrm>
            <a:off x="680496" y="2296607"/>
            <a:ext cx="1488552" cy="864748"/>
          </a:xfrm>
          <a:prstGeom prst="roundRect">
            <a:avLst>
              <a:gd name="adj" fmla="val 15597"/>
            </a:avLst>
          </a:prstGeom>
          <a:solidFill>
            <a:srgbClr val="FFFFFF"/>
          </a:solidFill>
          <a:ln w="14224" cap="flat">
            <a:solidFill>
              <a:srgbClr val="CDD9E3"/>
            </a:solidFill>
            <a:prstDash val="solid"/>
            <a:miter lim="800000"/>
          </a:ln>
        </p:spPr>
      </p:sp>
      <p:sp>
        <p:nvSpPr>
          <p:cNvPr id="15" name="rect sources data-production stage-topline-ingest ad-uid:rect-14"/>
          <p:cNvSpPr/>
          <p:nvPr/>
        </p:nvSpPr>
        <p:spPr>
          <a:xfrm>
            <a:off x="680496" y="2296607"/>
            <a:ext cx="1488552" cy="113386"/>
          </a:xfrm>
          <a:prstGeom prst="roundRect">
            <a:avLst>
              <a:gd name="adj" fmla="val 907255"/>
            </a:avLst>
          </a:prstGeom>
          <a:solidFill>
            <a:srgbClr val="DBEAFE"/>
          </a:solidFill>
          <a:ln/>
        </p:spPr>
      </p:sp>
      <p:sp>
        <p:nvSpPr>
          <p:cNvPr id="16" name="text sources data-production ad-node-title ad-uid:text-15"/>
          <p:cNvSpPr/>
          <p:nvPr/>
        </p:nvSpPr>
        <p:spPr>
          <a:xfrm>
            <a:off x="850575" y="2513503"/>
            <a:ext cx="1148304" cy="205557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1116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Systems</a:t>
            </a:r>
            <a:endParaRPr lang="en-US" sz="1116" dirty="0"/>
          </a:p>
        </p:txBody>
      </p:sp>
      <p:sp>
        <p:nvSpPr>
          <p:cNvPr id="17" name="text sources data-production ad-node-body ad-uid:text-16"/>
          <p:cNvSpPr/>
          <p:nvPr/>
        </p:nvSpPr>
        <p:spPr>
          <a:xfrm>
            <a:off x="850575" y="2743383"/>
            <a:ext cx="1148304" cy="26124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8500"/>
              </a:lnSpc>
              <a:buNone/>
            </a:pPr>
            <a:r>
              <a:rPr lang="en-US" altLang="en-US" sz="726" dirty="0">
                <a:solidFill>
                  <a:srgbClr val="4D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and CRM data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726" dirty="0">
                <a:solidFill>
                  <a:srgbClr val="4D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Orders, ads, support</a:t>
            </a:r>
            <a:endParaRPr lang="en-US" sz="726" dirty="0"/>
          </a:p>
        </p:txBody>
      </p:sp>
      <p:sp>
        <p:nvSpPr>
          <p:cNvPr id="18" name="rect ingest data-production ad-node-box ad-uid:rect-17"/>
          <p:cNvSpPr/>
          <p:nvPr/>
        </p:nvSpPr>
        <p:spPr>
          <a:xfrm>
            <a:off x="2594244" y="2296607"/>
            <a:ext cx="1488552" cy="864748"/>
          </a:xfrm>
          <a:prstGeom prst="roundRect">
            <a:avLst>
              <a:gd name="adj" fmla="val 15597"/>
            </a:avLst>
          </a:prstGeom>
          <a:solidFill>
            <a:srgbClr val="FFFFFF"/>
          </a:solidFill>
          <a:ln w="14224" cap="flat">
            <a:solidFill>
              <a:srgbClr val="CDD9E3"/>
            </a:solidFill>
            <a:prstDash val="solid"/>
            <a:miter lim="800000"/>
          </a:ln>
        </p:spPr>
      </p:sp>
      <p:sp>
        <p:nvSpPr>
          <p:cNvPr id="19" name="rect ingest data-production stage-topline-ingest ad-uid:rect-18"/>
          <p:cNvSpPr/>
          <p:nvPr/>
        </p:nvSpPr>
        <p:spPr>
          <a:xfrm>
            <a:off x="2594244" y="2296607"/>
            <a:ext cx="1488552" cy="113386"/>
          </a:xfrm>
          <a:prstGeom prst="roundRect">
            <a:avLst>
              <a:gd name="adj" fmla="val 907255"/>
            </a:avLst>
          </a:prstGeom>
          <a:solidFill>
            <a:srgbClr val="DBEAFE"/>
          </a:solidFill>
          <a:ln/>
        </p:spPr>
      </p:sp>
      <p:sp>
        <p:nvSpPr>
          <p:cNvPr id="20" name="text ingest data-production ad-node-title ad-uid:text-19"/>
          <p:cNvSpPr/>
          <p:nvPr/>
        </p:nvSpPr>
        <p:spPr>
          <a:xfrm>
            <a:off x="2764414" y="2513503"/>
            <a:ext cx="1148304" cy="205557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1116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Layer</a:t>
            </a:r>
            <a:endParaRPr lang="en-US" sz="1116" dirty="0"/>
          </a:p>
        </p:txBody>
      </p:sp>
      <p:sp>
        <p:nvSpPr>
          <p:cNvPr id="21" name="text ingest data-production ad-node-body ad-uid:text-20"/>
          <p:cNvSpPr/>
          <p:nvPr/>
        </p:nvSpPr>
        <p:spPr>
          <a:xfrm>
            <a:off x="2764414" y="2743383"/>
            <a:ext cx="1148304" cy="26124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8500"/>
              </a:lnSpc>
              <a:buNone/>
            </a:pPr>
            <a:r>
              <a:rPr lang="en-US" altLang="en-US" sz="726" dirty="0">
                <a:solidFill>
                  <a:srgbClr val="4D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CDC, batch drops,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726" dirty="0">
                <a:solidFill>
                  <a:srgbClr val="4D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connectors</a:t>
            </a:r>
            <a:endParaRPr lang="en-US" sz="726" dirty="0"/>
          </a:p>
        </p:txBody>
      </p:sp>
      <p:sp>
        <p:nvSpPr>
          <p:cNvPr id="22" name="rect lakehouse modeling-consumption ad-node-box ad-uid:rect-21"/>
          <p:cNvSpPr/>
          <p:nvPr/>
        </p:nvSpPr>
        <p:spPr>
          <a:xfrm>
            <a:off x="4508083" y="2296607"/>
            <a:ext cx="1488552" cy="864748"/>
          </a:xfrm>
          <a:prstGeom prst="roundRect">
            <a:avLst>
              <a:gd name="adj" fmla="val 15597"/>
            </a:avLst>
          </a:prstGeom>
          <a:solidFill>
            <a:srgbClr val="FFFFFF"/>
          </a:solidFill>
          <a:ln w="14224" cap="flat">
            <a:solidFill>
              <a:srgbClr val="CDD9E3"/>
            </a:solidFill>
            <a:prstDash val="solid"/>
            <a:miter lim="800000"/>
          </a:ln>
        </p:spPr>
      </p:sp>
      <p:sp>
        <p:nvSpPr>
          <p:cNvPr id="23" name="rect lakehouse modeling-consumption stage-topline-lake ad-uid:rect-22"/>
          <p:cNvSpPr/>
          <p:nvPr/>
        </p:nvSpPr>
        <p:spPr>
          <a:xfrm>
            <a:off x="4508083" y="2296607"/>
            <a:ext cx="1488552" cy="113386"/>
          </a:xfrm>
          <a:prstGeom prst="roundRect">
            <a:avLst>
              <a:gd name="adj" fmla="val 907255"/>
            </a:avLst>
          </a:prstGeom>
          <a:solidFill>
            <a:srgbClr val="D1FAE5"/>
          </a:solidFill>
          <a:ln/>
        </p:spPr>
      </p:sp>
      <p:sp>
        <p:nvSpPr>
          <p:cNvPr id="24" name="text lakehouse modeling-consumption ad-node-title ad-uid:text-23"/>
          <p:cNvSpPr/>
          <p:nvPr/>
        </p:nvSpPr>
        <p:spPr>
          <a:xfrm>
            <a:off x="4678253" y="2513503"/>
            <a:ext cx="1148304" cy="205557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1116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</a:t>
            </a:r>
            <a:endParaRPr lang="en-US" sz="1116" dirty="0"/>
          </a:p>
        </p:txBody>
      </p:sp>
      <p:sp>
        <p:nvSpPr>
          <p:cNvPr id="25" name="text lakehouse modeling-consumption ad-node-body ad-uid:text-24"/>
          <p:cNvSpPr/>
          <p:nvPr/>
        </p:nvSpPr>
        <p:spPr>
          <a:xfrm>
            <a:off x="4678253" y="2743383"/>
            <a:ext cx="1148304" cy="26124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8500"/>
              </a:lnSpc>
              <a:buNone/>
            </a:pPr>
            <a:r>
              <a:rPr lang="en-US" altLang="en-US" sz="726" dirty="0">
                <a:solidFill>
                  <a:srgbClr val="4D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and curated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726" dirty="0">
                <a:solidFill>
                  <a:srgbClr val="4D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history-ready storage</a:t>
            </a:r>
            <a:endParaRPr lang="en-US" sz="726" dirty="0"/>
          </a:p>
        </p:txBody>
      </p:sp>
      <p:sp>
        <p:nvSpPr>
          <p:cNvPr id="26" name="rect transform modeling-consumption ad-node-box ad-uid:rect-25"/>
          <p:cNvSpPr/>
          <p:nvPr/>
        </p:nvSpPr>
        <p:spPr>
          <a:xfrm>
            <a:off x="6421923" y="2296607"/>
            <a:ext cx="1488552" cy="864748"/>
          </a:xfrm>
          <a:prstGeom prst="roundRect">
            <a:avLst>
              <a:gd name="adj" fmla="val 15597"/>
            </a:avLst>
          </a:prstGeom>
          <a:solidFill>
            <a:srgbClr val="FFFFFF"/>
          </a:solidFill>
          <a:ln w="14224" cap="flat">
            <a:solidFill>
              <a:srgbClr val="CDD9E3"/>
            </a:solidFill>
            <a:prstDash val="solid"/>
            <a:miter lim="800000"/>
          </a:ln>
        </p:spPr>
      </p:sp>
      <p:sp>
        <p:nvSpPr>
          <p:cNvPr id="27" name="rect transform modeling-consumption stage-topline-transform ad-uid:rect-26"/>
          <p:cNvSpPr/>
          <p:nvPr/>
        </p:nvSpPr>
        <p:spPr>
          <a:xfrm>
            <a:off x="6421923" y="2296607"/>
            <a:ext cx="1488552" cy="113386"/>
          </a:xfrm>
          <a:prstGeom prst="roundRect">
            <a:avLst>
              <a:gd name="adj" fmla="val 907255"/>
            </a:avLst>
          </a:prstGeom>
          <a:solidFill>
            <a:srgbClr val="FEF3C7"/>
          </a:solidFill>
          <a:ln/>
        </p:spPr>
      </p:sp>
      <p:sp>
        <p:nvSpPr>
          <p:cNvPr id="28" name="text transform modeling-consumption ad-node-title ad-uid:text-27"/>
          <p:cNvSpPr/>
          <p:nvPr/>
        </p:nvSpPr>
        <p:spPr>
          <a:xfrm>
            <a:off x="6592001" y="2513503"/>
            <a:ext cx="1148304" cy="205557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1116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Layer</a:t>
            </a:r>
            <a:endParaRPr lang="en-US" sz="1116" dirty="0"/>
          </a:p>
        </p:txBody>
      </p:sp>
      <p:sp>
        <p:nvSpPr>
          <p:cNvPr id="29" name="text transform modeling-consumption ad-node-body ad-uid:text-28"/>
          <p:cNvSpPr/>
          <p:nvPr/>
        </p:nvSpPr>
        <p:spPr>
          <a:xfrm>
            <a:off x="6592001" y="2743383"/>
            <a:ext cx="1148304" cy="26124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8500"/>
              </a:lnSpc>
              <a:buNone/>
            </a:pPr>
            <a:r>
              <a:rPr lang="en-US" altLang="en-US" sz="726" dirty="0">
                <a:solidFill>
                  <a:srgbClr val="4D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Modeling, tests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726" dirty="0">
                <a:solidFill>
                  <a:srgbClr val="4D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semantic rules</a:t>
            </a:r>
            <a:endParaRPr lang="en-US" sz="726" dirty="0"/>
          </a:p>
        </p:txBody>
      </p:sp>
      <p:sp>
        <p:nvSpPr>
          <p:cNvPr id="30" name="rect metrics modeling-consumption ad-node-box ad-uid:rect-29"/>
          <p:cNvSpPr/>
          <p:nvPr/>
        </p:nvSpPr>
        <p:spPr>
          <a:xfrm>
            <a:off x="8335762" y="2296607"/>
            <a:ext cx="1488552" cy="864748"/>
          </a:xfrm>
          <a:prstGeom prst="roundRect">
            <a:avLst>
              <a:gd name="adj" fmla="val 15597"/>
            </a:avLst>
          </a:prstGeom>
          <a:solidFill>
            <a:srgbClr val="FFFFFF"/>
          </a:solidFill>
          <a:ln w="14224" cap="flat">
            <a:solidFill>
              <a:srgbClr val="CDD9E3"/>
            </a:solidFill>
            <a:prstDash val="solid"/>
            <a:miter lim="800000"/>
          </a:ln>
        </p:spPr>
      </p:sp>
      <p:sp>
        <p:nvSpPr>
          <p:cNvPr id="31" name="rect metrics modeling-consumption stage-topline-serve ad-uid:rect-30"/>
          <p:cNvSpPr/>
          <p:nvPr/>
        </p:nvSpPr>
        <p:spPr>
          <a:xfrm>
            <a:off x="8335762" y="2296607"/>
            <a:ext cx="1488552" cy="113386"/>
          </a:xfrm>
          <a:prstGeom prst="roundRect">
            <a:avLst>
              <a:gd name="adj" fmla="val 907255"/>
            </a:avLst>
          </a:prstGeom>
          <a:solidFill>
            <a:srgbClr val="FCE7F3"/>
          </a:solidFill>
          <a:ln/>
        </p:spPr>
      </p:sp>
      <p:sp>
        <p:nvSpPr>
          <p:cNvPr id="32" name="text metrics modeling-consumption ad-node-title ad-uid:text-31"/>
          <p:cNvSpPr/>
          <p:nvPr/>
        </p:nvSpPr>
        <p:spPr>
          <a:xfrm>
            <a:off x="8505840" y="2513503"/>
            <a:ext cx="1148304" cy="205557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1116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Service</a:t>
            </a:r>
            <a:endParaRPr lang="en-US" sz="1116" dirty="0"/>
          </a:p>
        </p:txBody>
      </p:sp>
      <p:sp>
        <p:nvSpPr>
          <p:cNvPr id="33" name="text metrics modeling-consumption ad-node-body ad-uid:text-32"/>
          <p:cNvSpPr/>
          <p:nvPr/>
        </p:nvSpPr>
        <p:spPr>
          <a:xfrm>
            <a:off x="8505840" y="2743383"/>
            <a:ext cx="1148304" cy="26124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8500"/>
              </a:lnSpc>
              <a:buNone/>
            </a:pPr>
            <a:r>
              <a:rPr lang="en-US" altLang="en-US" sz="726" dirty="0">
                <a:solidFill>
                  <a:srgbClr val="4D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KPI layer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726" dirty="0">
                <a:solidFill>
                  <a:srgbClr val="4D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and APIs</a:t>
            </a:r>
            <a:endParaRPr lang="en-US" sz="726" dirty="0"/>
          </a:p>
        </p:txBody>
      </p:sp>
      <p:sp>
        <p:nvSpPr>
          <p:cNvPr id="34" name="rect bi modeling-consumption ad-node-box ad-uid:rect-33"/>
          <p:cNvSpPr/>
          <p:nvPr/>
        </p:nvSpPr>
        <p:spPr>
          <a:xfrm>
            <a:off x="10206990" y="2296607"/>
            <a:ext cx="1488552" cy="864748"/>
          </a:xfrm>
          <a:prstGeom prst="roundRect">
            <a:avLst>
              <a:gd name="adj" fmla="val 15597"/>
            </a:avLst>
          </a:prstGeom>
          <a:solidFill>
            <a:srgbClr val="FFFFFF"/>
          </a:solidFill>
          <a:ln w="14224" cap="flat">
            <a:solidFill>
              <a:srgbClr val="CDD9E3"/>
            </a:solidFill>
            <a:prstDash val="solid"/>
            <a:miter lim="800000"/>
          </a:ln>
        </p:spPr>
      </p:sp>
      <p:sp>
        <p:nvSpPr>
          <p:cNvPr id="35" name="rect bi modeling-consumption stage-topline-consume ad-uid:rect-34"/>
          <p:cNvSpPr/>
          <p:nvPr/>
        </p:nvSpPr>
        <p:spPr>
          <a:xfrm>
            <a:off x="10206990" y="2296607"/>
            <a:ext cx="1488552" cy="113386"/>
          </a:xfrm>
          <a:prstGeom prst="roundRect">
            <a:avLst>
              <a:gd name="adj" fmla="val 907255"/>
            </a:avLst>
          </a:prstGeom>
          <a:solidFill>
            <a:srgbClr val="EDE9FE"/>
          </a:solidFill>
          <a:ln/>
        </p:spPr>
      </p:sp>
      <p:sp>
        <p:nvSpPr>
          <p:cNvPr id="36" name="text bi modeling-consumption ad-node-title ad-uid:text-35"/>
          <p:cNvSpPr/>
          <p:nvPr/>
        </p:nvSpPr>
        <p:spPr>
          <a:xfrm>
            <a:off x="10377160" y="2513503"/>
            <a:ext cx="1148304" cy="205557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1116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&amp; Decisions</a:t>
            </a:r>
            <a:endParaRPr lang="en-US" sz="1116" dirty="0"/>
          </a:p>
        </p:txBody>
      </p:sp>
      <p:sp>
        <p:nvSpPr>
          <p:cNvPr id="37" name="text bi modeling-consumption ad-node-body ad-uid:text-36"/>
          <p:cNvSpPr/>
          <p:nvPr/>
        </p:nvSpPr>
        <p:spPr>
          <a:xfrm>
            <a:off x="10377160" y="2743383"/>
            <a:ext cx="1148304" cy="26124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8500"/>
              </a:lnSpc>
              <a:buNone/>
            </a:pPr>
            <a:r>
              <a:rPr lang="en-US" altLang="en-US" sz="726" dirty="0">
                <a:solidFill>
                  <a:srgbClr val="4D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and alerts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726" dirty="0">
                <a:solidFill>
                  <a:srgbClr val="4D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and action</a:t>
            </a:r>
            <a:endParaRPr lang="en-US" sz="726" dirty="0"/>
          </a:p>
        </p:txBody>
      </p:sp>
      <p:sp>
        <p:nvSpPr>
          <p:cNvPr id="38" name="rect governance modeling-consumption ad-node-box ad-uid:rect-37"/>
          <p:cNvSpPr/>
          <p:nvPr/>
        </p:nvSpPr>
        <p:spPr>
          <a:xfrm>
            <a:off x="4451391" y="3756721"/>
            <a:ext cx="3402300" cy="836402"/>
          </a:xfrm>
          <a:prstGeom prst="roundRect">
            <a:avLst>
              <a:gd name="adj" fmla="val 16672"/>
            </a:avLst>
          </a:prstGeom>
          <a:solidFill>
            <a:srgbClr val="FFFFFF"/>
          </a:solidFill>
          <a:ln w="14224" cap="flat">
            <a:solidFill>
              <a:srgbClr val="CDD9E3"/>
            </a:solidFill>
            <a:prstDash val="solid"/>
            <a:miter lim="800000"/>
          </a:ln>
        </p:spPr>
      </p:sp>
      <p:sp>
        <p:nvSpPr>
          <p:cNvPr id="39" name="rect governance modeling-consumption stage-topline-transform ad-uid:rect-38"/>
          <p:cNvSpPr/>
          <p:nvPr/>
        </p:nvSpPr>
        <p:spPr>
          <a:xfrm>
            <a:off x="4451391" y="3756721"/>
            <a:ext cx="3402300" cy="113386"/>
          </a:xfrm>
          <a:prstGeom prst="roundRect">
            <a:avLst>
              <a:gd name="adj" fmla="val 907255"/>
            </a:avLst>
          </a:prstGeom>
          <a:solidFill>
            <a:srgbClr val="FEF3C7"/>
          </a:solidFill>
          <a:ln/>
        </p:spPr>
      </p:sp>
      <p:sp>
        <p:nvSpPr>
          <p:cNvPr id="40" name="text governance modeling-consumption ad-node-title ad-uid:text-39"/>
          <p:cNvSpPr/>
          <p:nvPr/>
        </p:nvSpPr>
        <p:spPr>
          <a:xfrm>
            <a:off x="4621469" y="3966576"/>
            <a:ext cx="3062143" cy="205557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1116" b="1" dirty="0">
                <a:solidFill>
                  <a:srgbClr val="17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Reliability</a:t>
            </a:r>
            <a:endParaRPr lang="en-US" sz="1116" dirty="0"/>
          </a:p>
        </p:txBody>
      </p:sp>
      <p:sp>
        <p:nvSpPr>
          <p:cNvPr id="41" name="text governance modeling-consumption ad-node-body ad-uid:text-40"/>
          <p:cNvSpPr/>
          <p:nvPr/>
        </p:nvSpPr>
        <p:spPr>
          <a:xfrm>
            <a:off x="4621469" y="4189415"/>
            <a:ext cx="3062143" cy="26124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8500"/>
              </a:lnSpc>
              <a:buNone/>
            </a:pPr>
            <a:r>
              <a:rPr lang="en-US" altLang="en-US" sz="726" dirty="0">
                <a:solidFill>
                  <a:srgbClr val="4D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control, data tests, lineage, SLA monitoring,</a:t>
            </a:r>
            <a:br/>
            <a:pPr algn="ctr" indent="0" marL="0">
              <a:lnSpc>
                <a:spcPct val="138500"/>
              </a:lnSpc>
              <a:buNone/>
            </a:pPr>
            <a:r>
              <a:rPr lang="en-US" altLang="en-US" sz="726" dirty="0">
                <a:solidFill>
                  <a:srgbClr val="4D6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ownership rules make the KPI layer trustworthy.</a:t>
            </a:r>
            <a:endParaRPr lang="en-US" sz="726" dirty="0"/>
          </a:p>
        </p:txBody>
      </p:sp>
      <p:sp>
        <p:nvSpPr>
          <p:cNvPr id="42" name="path ad-edge ad-uid:path-41"/>
          <p:cNvSpPr/>
          <p:nvPr/>
        </p:nvSpPr>
        <p:spPr>
          <a:xfrm>
            <a:off x="2168957" y="2728935"/>
            <a:ext cx="425287" cy="914"/>
          </a:xfrm>
          <a:custGeom>
            <a:avLst/>
            <a:gdLst/>
            <a:ahLst/>
            <a:cxnLst/>
            <a:rect l="l" t="t" r="r" b="b"/>
            <a:pathLst>
              <a:path w="425287" h="914">
                <a:moveTo>
                  <a:pt x="0" y="0"/>
                </a:moveTo>
                <a:lnTo>
                  <a:pt x="425287" y="0"/>
                </a:lnTo>
              </a:path>
            </a:pathLst>
          </a:custGeom>
          <a:ln w="17780" cap="flat">
            <a:solidFill>
              <a:srgbClr val="47627A"/>
            </a:solidFill>
            <a:prstDash val="solid"/>
            <a:tailEnd type="triangle"/>
            <a:miter lim="800000"/>
          </a:ln>
        </p:spPr>
      </p:sp>
      <p:sp>
        <p:nvSpPr>
          <p:cNvPr id="43" name="text ad-edge-label ad-uid:text-42"/>
          <p:cNvSpPr/>
          <p:nvPr/>
        </p:nvSpPr>
        <p:spPr>
          <a:xfrm>
            <a:off x="2074682" y="2104949"/>
            <a:ext cx="613928" cy="1233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670" b="1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 / batch</a:t>
            </a:r>
            <a:endParaRPr lang="en-US" sz="670" dirty="0"/>
          </a:p>
        </p:txBody>
      </p:sp>
      <p:sp>
        <p:nvSpPr>
          <p:cNvPr id="44" name="path ad-edge ad-uid:path-43"/>
          <p:cNvSpPr/>
          <p:nvPr/>
        </p:nvSpPr>
        <p:spPr>
          <a:xfrm>
            <a:off x="4082796" y="2728935"/>
            <a:ext cx="425287" cy="914"/>
          </a:xfrm>
          <a:custGeom>
            <a:avLst/>
            <a:gdLst/>
            <a:ahLst/>
            <a:cxnLst/>
            <a:rect l="l" t="t" r="r" b="b"/>
            <a:pathLst>
              <a:path w="425287" h="914">
                <a:moveTo>
                  <a:pt x="0" y="0"/>
                </a:moveTo>
                <a:lnTo>
                  <a:pt x="425287" y="0"/>
                </a:lnTo>
              </a:path>
            </a:pathLst>
          </a:custGeom>
          <a:ln w="17780" cap="flat">
            <a:solidFill>
              <a:srgbClr val="47627A"/>
            </a:solidFill>
            <a:prstDash val="solid"/>
            <a:tailEnd type="triangle"/>
            <a:miter lim="800000"/>
          </a:ln>
        </p:spPr>
      </p:sp>
      <p:sp>
        <p:nvSpPr>
          <p:cNvPr id="45" name="text ad-edge-label ad-uid:text-44"/>
          <p:cNvSpPr/>
          <p:nvPr/>
        </p:nvSpPr>
        <p:spPr>
          <a:xfrm>
            <a:off x="3949019" y="2104949"/>
            <a:ext cx="692932" cy="1233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670" b="1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raw data</a:t>
            </a:r>
            <a:endParaRPr lang="en-US" sz="670" dirty="0"/>
          </a:p>
        </p:txBody>
      </p:sp>
      <p:sp>
        <p:nvSpPr>
          <p:cNvPr id="46" name="path ad-edge ad-uid:path-45"/>
          <p:cNvSpPr/>
          <p:nvPr/>
        </p:nvSpPr>
        <p:spPr>
          <a:xfrm>
            <a:off x="5996635" y="2728935"/>
            <a:ext cx="425287" cy="914"/>
          </a:xfrm>
          <a:custGeom>
            <a:avLst/>
            <a:gdLst/>
            <a:ahLst/>
            <a:cxnLst/>
            <a:rect l="l" t="t" r="r" b="b"/>
            <a:pathLst>
              <a:path w="425287" h="914">
                <a:moveTo>
                  <a:pt x="0" y="0"/>
                </a:moveTo>
                <a:lnTo>
                  <a:pt x="425287" y="0"/>
                </a:lnTo>
              </a:path>
            </a:pathLst>
          </a:custGeom>
          <a:ln w="17780" cap="flat">
            <a:solidFill>
              <a:srgbClr val="47627A"/>
            </a:solidFill>
            <a:prstDash val="solid"/>
            <a:tailEnd type="triangle"/>
            <a:miter lim="800000"/>
          </a:ln>
        </p:spPr>
      </p:sp>
      <p:sp>
        <p:nvSpPr>
          <p:cNvPr id="47" name="text ad-edge-label ad-uid:text-46"/>
          <p:cNvSpPr/>
          <p:nvPr/>
        </p:nvSpPr>
        <p:spPr>
          <a:xfrm>
            <a:off x="5836158" y="2104949"/>
            <a:ext cx="746242" cy="1233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670" b="1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&amp; refine</a:t>
            </a:r>
            <a:endParaRPr lang="en-US" sz="670" dirty="0"/>
          </a:p>
        </p:txBody>
      </p:sp>
      <p:sp>
        <p:nvSpPr>
          <p:cNvPr id="48" name="path ad-edge ad-uid:path-47"/>
          <p:cNvSpPr/>
          <p:nvPr/>
        </p:nvSpPr>
        <p:spPr>
          <a:xfrm>
            <a:off x="7910383" y="2728935"/>
            <a:ext cx="425287" cy="914"/>
          </a:xfrm>
          <a:custGeom>
            <a:avLst/>
            <a:gdLst/>
            <a:ahLst/>
            <a:cxnLst/>
            <a:rect l="l" t="t" r="r" b="b"/>
            <a:pathLst>
              <a:path w="425287" h="914">
                <a:moveTo>
                  <a:pt x="0" y="0"/>
                </a:moveTo>
                <a:lnTo>
                  <a:pt x="425287" y="0"/>
                </a:lnTo>
              </a:path>
            </a:pathLst>
          </a:custGeom>
          <a:ln w="17780" cap="flat">
            <a:solidFill>
              <a:srgbClr val="47627A"/>
            </a:solidFill>
            <a:prstDash val="solid"/>
            <a:tailEnd type="triangle"/>
            <a:miter lim="800000"/>
          </a:ln>
        </p:spPr>
      </p:sp>
      <p:sp>
        <p:nvSpPr>
          <p:cNvPr id="49" name="text ad-edge-label ad-uid:text-48"/>
          <p:cNvSpPr/>
          <p:nvPr/>
        </p:nvSpPr>
        <p:spPr>
          <a:xfrm>
            <a:off x="7752283" y="2104949"/>
            <a:ext cx="741578" cy="1233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670" b="1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KPIs</a:t>
            </a:r>
            <a:endParaRPr lang="en-US" sz="670" dirty="0"/>
          </a:p>
        </p:txBody>
      </p:sp>
      <p:sp>
        <p:nvSpPr>
          <p:cNvPr id="50" name="path ad-edge ad-uid:path-49"/>
          <p:cNvSpPr/>
          <p:nvPr/>
        </p:nvSpPr>
        <p:spPr>
          <a:xfrm>
            <a:off x="9824222" y="2728935"/>
            <a:ext cx="382768" cy="914"/>
          </a:xfrm>
          <a:custGeom>
            <a:avLst/>
            <a:gdLst/>
            <a:ahLst/>
            <a:cxnLst/>
            <a:rect l="l" t="t" r="r" b="b"/>
            <a:pathLst>
              <a:path w="382768" h="914">
                <a:moveTo>
                  <a:pt x="0" y="0"/>
                </a:moveTo>
                <a:lnTo>
                  <a:pt x="382768" y="0"/>
                </a:lnTo>
              </a:path>
            </a:pathLst>
          </a:custGeom>
          <a:ln w="17780" cap="flat">
            <a:solidFill>
              <a:srgbClr val="47627A"/>
            </a:solidFill>
            <a:prstDash val="solid"/>
            <a:tailEnd type="triangle"/>
            <a:miter lim="800000"/>
          </a:ln>
        </p:spPr>
      </p:sp>
      <p:sp>
        <p:nvSpPr>
          <p:cNvPr id="51" name="text ad-edge-label ad-uid:text-50"/>
          <p:cNvSpPr/>
          <p:nvPr/>
        </p:nvSpPr>
        <p:spPr>
          <a:xfrm>
            <a:off x="9658624" y="2104949"/>
            <a:ext cx="714055" cy="1233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670" b="1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insight</a:t>
            </a:r>
            <a:endParaRPr lang="en-US" sz="670" dirty="0"/>
          </a:p>
        </p:txBody>
      </p:sp>
      <p:sp>
        <p:nvSpPr>
          <p:cNvPr id="52" name="text ad-legend ad-uid:text-51"/>
          <p:cNvSpPr/>
          <p:nvPr/>
        </p:nvSpPr>
        <p:spPr>
          <a:xfrm>
            <a:off x="623804" y="5691500"/>
            <a:ext cx="8437900" cy="1233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670" dirty="0">
                <a:solidFill>
                  <a:srgbClr val="6078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route used by the upgraded skill: Mandatory brainstorm -&gt; Data Analytics capability -&gt; PlantUML unavailable -&gt; SVG-first fallback for report-ready delivery.</a:t>
            </a:r>
            <a:endParaRPr lang="en-US" sz="6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auto-diagram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data-analytics-demo-editable-regression</dc:title>
  <dc:subject>Editable diagram export</dc:subject>
  <dc:creator>auto-diagram</dc:creator>
  <cp:lastModifiedBy>auto-diagram</cp:lastModifiedBy>
  <cp:revision>1</cp:revision>
  <dcterms:created xsi:type="dcterms:W3CDTF">2026-04-13T11:00:55Z</dcterms:created>
  <dcterms:modified xsi:type="dcterms:W3CDTF">2026-04-13T11:00:55Z</dcterms:modified>
</cp:coreProperties>
</file>