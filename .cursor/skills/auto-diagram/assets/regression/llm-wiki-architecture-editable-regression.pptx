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7156003"/>
  <p:notesSz cx="7156003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ad-uid:rect-1"/>
          <p:cNvSpPr/>
          <p:nvPr/>
        </p:nvSpPr>
        <p:spPr>
          <a:xfrm>
            <a:off x="0" y="0"/>
            <a:ext cx="12191695" cy="7156003"/>
          </a:xfrm>
          <a:prstGeom prst="rect">
            <a:avLst/>
          </a:prstGeom>
          <a:solidFill>
            <a:srgbClr val="F1F6FA"/>
          </a:solidFill>
          <a:ln/>
        </p:spPr>
      </p:sp>
      <p:sp>
        <p:nvSpPr>
          <p:cNvPr id="3" name="text ad-title ad-uid:text-2"/>
          <p:cNvSpPr/>
          <p:nvPr/>
        </p:nvSpPr>
        <p:spPr>
          <a:xfrm>
            <a:off x="477042" y="309524"/>
            <a:ext cx="6039155" cy="32662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74" b="1" dirty="0">
                <a:solidFill>
                  <a:srgbClr val="163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Wiki: A Compiled Knowledge Architecture</a:t>
            </a:r>
            <a:endParaRPr lang="en-US" sz="1774" dirty="0"/>
          </a:p>
        </p:txBody>
      </p:sp>
      <p:sp>
        <p:nvSpPr>
          <p:cNvPr id="4" name="text ad-subtitle ad-uid:text-3"/>
          <p:cNvSpPr/>
          <p:nvPr/>
        </p:nvSpPr>
        <p:spPr>
          <a:xfrm>
            <a:off x="477042" y="618043"/>
            <a:ext cx="7771668" cy="15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835" dirty="0">
                <a:solidFill>
                  <a:srgbClr val="5C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scattered sources into a persistent markdown wiki that the agent keeps updated, searchable, and explainable over time.</a:t>
            </a:r>
            <a:endParaRPr lang="en-US" sz="835" dirty="0"/>
          </a:p>
        </p:txBody>
      </p:sp>
      <p:sp>
        <p:nvSpPr>
          <p:cNvPr id="5" name="rect ad-note-box ad-uid:rect-4"/>
          <p:cNvSpPr/>
          <p:nvPr/>
        </p:nvSpPr>
        <p:spPr>
          <a:xfrm>
            <a:off x="7460772" y="318028"/>
            <a:ext cx="4200845" cy="781903"/>
          </a:xfrm>
          <a:prstGeom prst="roundRect">
            <a:avLst>
              <a:gd name="adj" fmla="val 23787"/>
            </a:avLst>
          </a:prstGeom>
          <a:solidFill>
            <a:srgbClr val="195783"/>
          </a:solidFill>
          <a:ln/>
        </p:spPr>
      </p:sp>
      <p:sp>
        <p:nvSpPr>
          <p:cNvPr id="6" name="text ad-note-title ad-uid:text-5"/>
          <p:cNvSpPr/>
          <p:nvPr/>
        </p:nvSpPr>
        <p:spPr>
          <a:xfrm>
            <a:off x="9045428" y="461132"/>
            <a:ext cx="1031535" cy="1921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04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Message</a:t>
            </a:r>
            <a:endParaRPr lang="en-US" sz="1043" dirty="0"/>
          </a:p>
        </p:txBody>
      </p:sp>
      <p:sp>
        <p:nvSpPr>
          <p:cNvPr id="7" name="text ad-note-body ad-uid:text-6"/>
          <p:cNvSpPr/>
          <p:nvPr/>
        </p:nvSpPr>
        <p:spPr>
          <a:xfrm>
            <a:off x="7484090" y="683240"/>
            <a:ext cx="4154302" cy="2537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600"/>
              </a:lnSpc>
              <a:buNone/>
            </a:pPr>
            <a:r>
              <a:rPr lang="en-US" altLang="en-US" sz="730" dirty="0">
                <a:solidFill>
                  <a:srgbClr val="D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pattern does not re-discover truth from raw files on every question.</a:t>
            </a:r>
            <a:br/>
            <a:pPr algn="ctr" indent="0" marL="0">
              <a:lnSpc>
                <a:spcPct val="128600"/>
              </a:lnSpc>
              <a:buNone/>
            </a:pPr>
            <a:r>
              <a:rPr lang="en-US" altLang="en-US" sz="730" dirty="0">
                <a:solidFill>
                  <a:srgbClr val="D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compiles knowledge once into a maintained wiki, then keeps enriching it.</a:t>
            </a:r>
            <a:endParaRPr lang="en-US" sz="730" dirty="0"/>
          </a:p>
        </p:txBody>
      </p:sp>
      <p:sp>
        <p:nvSpPr>
          <p:cNvPr id="8" name="rect stage-box ad-uid:rect-7"/>
          <p:cNvSpPr/>
          <p:nvPr/>
        </p:nvSpPr>
        <p:spPr>
          <a:xfrm>
            <a:off x="344546" y="1245687"/>
            <a:ext cx="11502603" cy="5274259"/>
          </a:xfrm>
          <a:prstGeom prst="roundRect">
            <a:avLst>
              <a:gd name="adj" fmla="val 610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9" name="text ad-group-title ad-uid:text-8"/>
          <p:cNvSpPr/>
          <p:nvPr/>
        </p:nvSpPr>
        <p:spPr>
          <a:xfrm>
            <a:off x="556595" y="1338682"/>
            <a:ext cx="1344900" cy="12490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678" b="1" spc="54" kern="0" dirty="0">
                <a:solidFill>
                  <a:srgbClr val="456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STRUCTURE</a:t>
            </a:r>
            <a:endParaRPr lang="en-US" sz="678" dirty="0"/>
          </a:p>
        </p:txBody>
      </p:sp>
      <p:sp>
        <p:nvSpPr>
          <p:cNvPr id="10" name="rect raw-sources ad-group-box ad-uid:rect-9"/>
          <p:cNvSpPr/>
          <p:nvPr/>
        </p:nvSpPr>
        <p:spPr>
          <a:xfrm>
            <a:off x="503560" y="1563715"/>
            <a:ext cx="2014240" cy="4108033"/>
          </a:xfrm>
          <a:prstGeom prst="roundRect">
            <a:avLst>
              <a:gd name="adj" fmla="val 3582"/>
            </a:avLst>
          </a:prstGeom>
          <a:solidFill>
            <a:srgbClr val="FFFFFF">
              <a:alpha val="62000"/>
            </a:srgbClr>
          </a:solidFill>
          <a:ln w="9271" cap="flat">
            <a:solidFill>
              <a:srgbClr val="D8E2EA"/>
            </a:solidFill>
            <a:prstDash val="solid"/>
            <a:miter lim="800000"/>
          </a:ln>
        </p:spPr>
      </p:sp>
      <p:sp>
        <p:nvSpPr>
          <p:cNvPr id="11" name="text raw-sources ad-group-title ad-uid:text-10"/>
          <p:cNvSpPr/>
          <p:nvPr/>
        </p:nvSpPr>
        <p:spPr>
          <a:xfrm>
            <a:off x="689092" y="1669969"/>
            <a:ext cx="779343" cy="12490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678" b="1" spc="54" kern="0" dirty="0">
                <a:solidFill>
                  <a:srgbClr val="456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SOURCES</a:t>
            </a:r>
            <a:endParaRPr lang="en-US" sz="678" dirty="0"/>
          </a:p>
        </p:txBody>
      </p:sp>
      <p:sp>
        <p:nvSpPr>
          <p:cNvPr id="12" name="rect wiki-core ad-group-box ad-uid:rect-11"/>
          <p:cNvSpPr/>
          <p:nvPr/>
        </p:nvSpPr>
        <p:spPr>
          <a:xfrm>
            <a:off x="2941899" y="1563715"/>
            <a:ext cx="5406756" cy="4108033"/>
          </a:xfrm>
          <a:prstGeom prst="roundRect">
            <a:avLst>
              <a:gd name="adj" fmla="val 861"/>
            </a:avLst>
          </a:prstGeom>
          <a:solidFill>
            <a:srgbClr val="FFFFFF">
              <a:alpha val="62000"/>
            </a:srgbClr>
          </a:solidFill>
          <a:ln w="9271" cap="flat">
            <a:solidFill>
              <a:srgbClr val="D8E2EA"/>
            </a:solidFill>
            <a:prstDash val="solid"/>
            <a:miter lim="800000"/>
          </a:ln>
        </p:spPr>
      </p:sp>
      <p:sp>
        <p:nvSpPr>
          <p:cNvPr id="13" name="text wiki-core ad-group-title ad-uid:text-12"/>
          <p:cNvSpPr/>
          <p:nvPr/>
        </p:nvSpPr>
        <p:spPr>
          <a:xfrm>
            <a:off x="3127431" y="1669969"/>
            <a:ext cx="1243493" cy="12490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678" b="1" spc="54" kern="0" dirty="0">
                <a:solidFill>
                  <a:srgbClr val="456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WIKI CORE</a:t>
            </a:r>
            <a:endParaRPr lang="en-US" sz="678" dirty="0"/>
          </a:p>
        </p:txBody>
      </p:sp>
      <p:sp>
        <p:nvSpPr>
          <p:cNvPr id="14" name="rect usage-loop ad-group-box ad-uid:rect-13"/>
          <p:cNvSpPr/>
          <p:nvPr/>
        </p:nvSpPr>
        <p:spPr>
          <a:xfrm>
            <a:off x="8772754" y="1563715"/>
            <a:ext cx="2915382" cy="4108033"/>
          </a:xfrm>
          <a:prstGeom prst="roundRect">
            <a:avLst>
              <a:gd name="adj" fmla="val 1709"/>
            </a:avLst>
          </a:prstGeom>
          <a:solidFill>
            <a:srgbClr val="FFFFFF">
              <a:alpha val="62000"/>
            </a:srgbClr>
          </a:solidFill>
          <a:ln w="9271" cap="flat">
            <a:solidFill>
              <a:srgbClr val="D8E2EA"/>
            </a:solidFill>
            <a:prstDash val="solid"/>
            <a:miter lim="800000"/>
          </a:ln>
        </p:spPr>
      </p:sp>
      <p:sp>
        <p:nvSpPr>
          <p:cNvPr id="15" name="text usage-loop ad-group-title ad-uid:text-14"/>
          <p:cNvSpPr/>
          <p:nvPr/>
        </p:nvSpPr>
        <p:spPr>
          <a:xfrm>
            <a:off x="8958285" y="1669969"/>
            <a:ext cx="1283543" cy="12490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678" b="1" spc="54" kern="0" dirty="0">
                <a:solidFill>
                  <a:srgbClr val="456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LOOP AND TOOLS</a:t>
            </a:r>
            <a:endParaRPr lang="en-US" sz="678" dirty="0"/>
          </a:p>
        </p:txBody>
      </p:sp>
      <p:sp>
        <p:nvSpPr>
          <p:cNvPr id="16" name="rect raw-articles raw-sources ad-node-box ad-uid:rect-15"/>
          <p:cNvSpPr/>
          <p:nvPr/>
        </p:nvSpPr>
        <p:spPr>
          <a:xfrm>
            <a:off x="689092" y="2133570"/>
            <a:ext cx="1643268" cy="689092"/>
          </a:xfrm>
          <a:prstGeom prst="roundRect">
            <a:avLst>
              <a:gd name="adj" fmla="val 22970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17" name="rect raw-articles raw-sources raw-top ad-uid:rect-16"/>
          <p:cNvSpPr/>
          <p:nvPr/>
        </p:nvSpPr>
        <p:spPr>
          <a:xfrm>
            <a:off x="689092" y="2133570"/>
            <a:ext cx="1643268" cy="92720"/>
          </a:xfrm>
          <a:prstGeom prst="roundRect">
            <a:avLst>
              <a:gd name="adj" fmla="val 1267951"/>
            </a:avLst>
          </a:prstGeom>
          <a:solidFill>
            <a:srgbClr val="DBEAFE"/>
          </a:solidFill>
          <a:ln/>
        </p:spPr>
      </p:sp>
      <p:sp>
        <p:nvSpPr>
          <p:cNvPr id="18" name="text raw-articles raw-sources ad-node-title ad-uid:text-17"/>
          <p:cNvSpPr/>
          <p:nvPr/>
        </p:nvSpPr>
        <p:spPr>
          <a:xfrm>
            <a:off x="834847" y="2296058"/>
            <a:ext cx="1351666" cy="18251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991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 and Papers</a:t>
            </a:r>
            <a:endParaRPr lang="en-US" sz="991" dirty="0"/>
          </a:p>
        </p:txBody>
      </p:sp>
      <p:sp>
        <p:nvSpPr>
          <p:cNvPr id="19" name="text raw-articles raw-sources ad-node-body ad-uid:text-18"/>
          <p:cNvSpPr/>
          <p:nvPr/>
        </p:nvSpPr>
        <p:spPr>
          <a:xfrm>
            <a:off x="834847" y="2498232"/>
            <a:ext cx="1351666" cy="244145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clips, reports,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from reading</a:t>
            </a:r>
            <a:endParaRPr lang="en-US" sz="678" dirty="0"/>
          </a:p>
        </p:txBody>
      </p:sp>
      <p:sp>
        <p:nvSpPr>
          <p:cNvPr id="20" name="rect raw-transcripts raw-sources ad-node-box ad-uid:rect-19"/>
          <p:cNvSpPr/>
          <p:nvPr/>
        </p:nvSpPr>
        <p:spPr>
          <a:xfrm>
            <a:off x="689092" y="3008193"/>
            <a:ext cx="1643268" cy="728868"/>
          </a:xfrm>
          <a:prstGeom prst="roundRect">
            <a:avLst>
              <a:gd name="adj" fmla="val 20524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21" name="rect raw-transcripts raw-sources raw-top ad-uid:rect-20"/>
          <p:cNvSpPr/>
          <p:nvPr/>
        </p:nvSpPr>
        <p:spPr>
          <a:xfrm>
            <a:off x="689092" y="3008193"/>
            <a:ext cx="1643268" cy="92720"/>
          </a:xfrm>
          <a:prstGeom prst="roundRect">
            <a:avLst>
              <a:gd name="adj" fmla="val 1267951"/>
            </a:avLst>
          </a:prstGeom>
          <a:solidFill>
            <a:srgbClr val="DBEAFE"/>
          </a:solidFill>
          <a:ln/>
        </p:spPr>
      </p:sp>
      <p:sp>
        <p:nvSpPr>
          <p:cNvPr id="22" name="text raw-transcripts raw-sources ad-node-title ad-uid:text-21"/>
          <p:cNvSpPr/>
          <p:nvPr/>
        </p:nvSpPr>
        <p:spPr>
          <a:xfrm>
            <a:off x="834847" y="3143067"/>
            <a:ext cx="1351666" cy="282641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900"/>
              </a:lnSpc>
              <a:buNone/>
            </a:pPr>
            <a:r>
              <a:rPr lang="en-US" altLang="en-US" sz="887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and</a:t>
            </a:r>
            <a:br/>
            <a:pPr algn="ctr" indent="0" marL="0">
              <a:lnSpc>
                <a:spcPct val="105900"/>
              </a:lnSpc>
              <a:buNone/>
            </a:pPr>
            <a:r>
              <a:rPr lang="en-US" altLang="en-US" sz="887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</a:t>
            </a:r>
            <a:endParaRPr lang="en-US" sz="887" dirty="0"/>
          </a:p>
        </p:txBody>
      </p:sp>
      <p:sp>
        <p:nvSpPr>
          <p:cNvPr id="23" name="text raw-transcripts raw-sources ad-node-body ad-uid:text-22"/>
          <p:cNvSpPr/>
          <p:nvPr/>
        </p:nvSpPr>
        <p:spPr>
          <a:xfrm>
            <a:off x="834847" y="3372856"/>
            <a:ext cx="1351666" cy="244145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meetings, calls,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journals, project docs</a:t>
            </a:r>
            <a:endParaRPr lang="en-US" sz="678" dirty="0"/>
          </a:p>
        </p:txBody>
      </p:sp>
      <p:sp>
        <p:nvSpPr>
          <p:cNvPr id="24" name="rect raw-assets raw-sources ad-node-box ad-uid:rect-23"/>
          <p:cNvSpPr/>
          <p:nvPr/>
        </p:nvSpPr>
        <p:spPr>
          <a:xfrm>
            <a:off x="689092" y="3882817"/>
            <a:ext cx="1643268" cy="728868"/>
          </a:xfrm>
          <a:prstGeom prst="roundRect">
            <a:avLst>
              <a:gd name="adj" fmla="val 20524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25" name="rect raw-assets raw-sources raw-top ad-uid:rect-24"/>
          <p:cNvSpPr/>
          <p:nvPr/>
        </p:nvSpPr>
        <p:spPr>
          <a:xfrm>
            <a:off x="689092" y="3882817"/>
            <a:ext cx="1643268" cy="92720"/>
          </a:xfrm>
          <a:prstGeom prst="roundRect">
            <a:avLst>
              <a:gd name="adj" fmla="val 1267951"/>
            </a:avLst>
          </a:prstGeom>
          <a:solidFill>
            <a:srgbClr val="DBEAFE"/>
          </a:solidFill>
          <a:ln/>
        </p:spPr>
      </p:sp>
      <p:sp>
        <p:nvSpPr>
          <p:cNvPr id="26" name="text raw-assets raw-sources ad-node-title ad-uid:text-25"/>
          <p:cNvSpPr/>
          <p:nvPr/>
        </p:nvSpPr>
        <p:spPr>
          <a:xfrm>
            <a:off x="834847" y="4017691"/>
            <a:ext cx="1351666" cy="282641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900"/>
              </a:lnSpc>
              <a:buNone/>
            </a:pPr>
            <a:r>
              <a:rPr lang="en-US" altLang="en-US" sz="887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and</a:t>
            </a:r>
            <a:br/>
            <a:pPr algn="ctr" indent="0" marL="0">
              <a:lnSpc>
                <a:spcPct val="105900"/>
              </a:lnSpc>
              <a:buNone/>
            </a:pPr>
            <a:r>
              <a:rPr lang="en-US" altLang="en-US" sz="887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Files</a:t>
            </a:r>
            <a:endParaRPr lang="en-US" sz="887" dirty="0"/>
          </a:p>
        </p:txBody>
      </p:sp>
      <p:sp>
        <p:nvSpPr>
          <p:cNvPr id="27" name="text raw-assets raw-sources ad-node-body ad-uid:text-26"/>
          <p:cNvSpPr/>
          <p:nvPr/>
        </p:nvSpPr>
        <p:spPr>
          <a:xfrm>
            <a:off x="834847" y="4247479"/>
            <a:ext cx="1351666" cy="244145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screenshots, tables,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and evidence</a:t>
            </a:r>
            <a:endParaRPr lang="en-US" sz="678" dirty="0"/>
          </a:p>
        </p:txBody>
      </p:sp>
      <p:sp>
        <p:nvSpPr>
          <p:cNvPr id="28" name="rect raw-truth raw-sources ad-note-box ad-uid:rect-27"/>
          <p:cNvSpPr/>
          <p:nvPr/>
        </p:nvSpPr>
        <p:spPr>
          <a:xfrm>
            <a:off x="689092" y="4823643"/>
            <a:ext cx="1643268" cy="702351"/>
          </a:xfrm>
          <a:prstGeom prst="roundRect">
            <a:avLst>
              <a:gd name="adj" fmla="val 22106"/>
            </a:avLst>
          </a:prstGeom>
          <a:solidFill>
            <a:srgbClr val="264B68"/>
          </a:solidFill>
          <a:ln/>
        </p:spPr>
      </p:sp>
      <p:sp>
        <p:nvSpPr>
          <p:cNvPr id="29" name="text raw-truth raw-sources ad-note-title ad-uid:text-28"/>
          <p:cNvSpPr/>
          <p:nvPr/>
        </p:nvSpPr>
        <p:spPr>
          <a:xfrm>
            <a:off x="834847" y="4953579"/>
            <a:ext cx="1351666" cy="192115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04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Raw Matters</a:t>
            </a:r>
            <a:endParaRPr lang="en-US" sz="1043" dirty="0"/>
          </a:p>
        </p:txBody>
      </p:sp>
      <p:sp>
        <p:nvSpPr>
          <p:cNvPr id="30" name="text raw-truth raw-sources ad-note-body ad-uid:text-29"/>
          <p:cNvSpPr/>
          <p:nvPr/>
        </p:nvSpPr>
        <p:spPr>
          <a:xfrm>
            <a:off x="834847" y="5162428"/>
            <a:ext cx="1351666" cy="373075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600"/>
              </a:lnSpc>
              <a:buNone/>
            </a:pPr>
            <a:r>
              <a:rPr lang="en-US" altLang="en-US" sz="730" dirty="0">
                <a:solidFill>
                  <a:srgbClr val="D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source</a:t>
            </a:r>
            <a:br/>
            <a:pPr algn="ctr" indent="0" marL="0">
              <a:lnSpc>
                <a:spcPct val="128600"/>
              </a:lnSpc>
              <a:buNone/>
            </a:pPr>
            <a:r>
              <a:rPr lang="en-US" altLang="en-US" sz="730" dirty="0">
                <a:solidFill>
                  <a:srgbClr val="D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truth. The agent</a:t>
            </a:r>
            <a:br/>
            <a:pPr algn="ctr" indent="0" marL="0">
              <a:lnSpc>
                <a:spcPct val="128600"/>
              </a:lnSpc>
              <a:buNone/>
            </a:pPr>
            <a:r>
              <a:rPr lang="en-US" altLang="en-US" sz="730" dirty="0">
                <a:solidFill>
                  <a:srgbClr val="D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it but never edits it.</a:t>
            </a:r>
            <a:endParaRPr lang="en-US" sz="730" dirty="0"/>
          </a:p>
        </p:txBody>
      </p:sp>
      <p:sp>
        <p:nvSpPr>
          <p:cNvPr id="31" name="rect schema wiki-core ad-node-box ad-uid:rect-30"/>
          <p:cNvSpPr/>
          <p:nvPr/>
        </p:nvSpPr>
        <p:spPr>
          <a:xfrm>
            <a:off x="4426153" y="1895003"/>
            <a:ext cx="2438339" cy="715609"/>
          </a:xfrm>
          <a:prstGeom prst="roundRect">
            <a:avLst>
              <a:gd name="adj" fmla="val 21301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32" name="rect schema wiki-core schema-top ad-uid:rect-31"/>
          <p:cNvSpPr/>
          <p:nvPr/>
        </p:nvSpPr>
        <p:spPr>
          <a:xfrm>
            <a:off x="4426153" y="1895003"/>
            <a:ext cx="2438339" cy="92720"/>
          </a:xfrm>
          <a:prstGeom prst="roundRect">
            <a:avLst>
              <a:gd name="adj" fmla="val 1267951"/>
            </a:avLst>
          </a:prstGeom>
          <a:solidFill>
            <a:srgbClr val="D1FAE5"/>
          </a:solidFill>
          <a:ln/>
        </p:spPr>
      </p:sp>
      <p:sp>
        <p:nvSpPr>
          <p:cNvPr id="33" name="text schema wiki-core ad-node-title ad-uid:text-32"/>
          <p:cNvSpPr/>
          <p:nvPr/>
        </p:nvSpPr>
        <p:spPr>
          <a:xfrm>
            <a:off x="4585167" y="2070750"/>
            <a:ext cx="2120311" cy="18251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991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File</a:t>
            </a:r>
            <a:endParaRPr lang="en-US" sz="991" dirty="0"/>
          </a:p>
        </p:txBody>
      </p:sp>
      <p:sp>
        <p:nvSpPr>
          <p:cNvPr id="34" name="text schema wiki-core ad-node-body ad-uid:text-33"/>
          <p:cNvSpPr/>
          <p:nvPr/>
        </p:nvSpPr>
        <p:spPr>
          <a:xfrm>
            <a:off x="4585167" y="2266340"/>
            <a:ext cx="2120311" cy="36347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/ AGENTS.md sets naming,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types, ingest steps,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maintenance discipline.</a:t>
            </a:r>
            <a:endParaRPr lang="en-US" sz="678" dirty="0"/>
          </a:p>
        </p:txBody>
      </p:sp>
      <p:sp>
        <p:nvSpPr>
          <p:cNvPr id="35" name="rect wiki-shell ad-group-box ad-uid:rect-34"/>
          <p:cNvSpPr/>
          <p:nvPr/>
        </p:nvSpPr>
        <p:spPr>
          <a:xfrm>
            <a:off x="3193725" y="2703424"/>
            <a:ext cx="4903196" cy="2186513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36" name="rect wiki-shell wiki-top ad-uid:rect-35"/>
          <p:cNvSpPr/>
          <p:nvPr/>
        </p:nvSpPr>
        <p:spPr>
          <a:xfrm>
            <a:off x="3193725" y="2703424"/>
            <a:ext cx="4903196" cy="105979"/>
          </a:xfrm>
          <a:prstGeom prst="roundRect">
            <a:avLst>
              <a:gd name="adj" fmla="val 1294219"/>
            </a:avLst>
          </a:prstGeom>
          <a:solidFill>
            <a:srgbClr val="CCFBF1"/>
          </a:solidFill>
          <a:ln/>
        </p:spPr>
      </p:sp>
      <p:sp>
        <p:nvSpPr>
          <p:cNvPr id="37" name="text wiki-shell ad-node-title ad-uid:text-36"/>
          <p:cNvSpPr/>
          <p:nvPr/>
        </p:nvSpPr>
        <p:spPr>
          <a:xfrm>
            <a:off x="3723985" y="2852562"/>
            <a:ext cx="3842675" cy="18251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991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wiki/ - Persistent, LLM-Maintained Markdown Layer</a:t>
            </a:r>
            <a:endParaRPr lang="en-US" sz="991" dirty="0"/>
          </a:p>
        </p:txBody>
      </p:sp>
      <p:sp>
        <p:nvSpPr>
          <p:cNvPr id="38" name="text wiki-shell ad-node-body ad-uid:text-37"/>
          <p:cNvSpPr/>
          <p:nvPr/>
        </p:nvSpPr>
        <p:spPr>
          <a:xfrm>
            <a:off x="3607125" y="3061411"/>
            <a:ext cx="4076212" cy="24414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owns this layer: it writes pages, revises synthesis, maintains links,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contradictions, and keeps the knowledge base current.</a:t>
            </a:r>
            <a:endParaRPr lang="en-US" sz="678" dirty="0"/>
          </a:p>
        </p:txBody>
      </p:sp>
      <p:sp>
        <p:nvSpPr>
          <p:cNvPr id="39" name="rect overview wiki-shell ad-node-box ad-uid:rect-38"/>
          <p:cNvSpPr/>
          <p:nvPr/>
        </p:nvSpPr>
        <p:spPr>
          <a:xfrm>
            <a:off x="3405683" y="3273186"/>
            <a:ext cx="1298722" cy="583113"/>
          </a:xfrm>
          <a:prstGeom prst="roundRect">
            <a:avLst>
              <a:gd name="adj" fmla="val 28509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40" name="rect overview wiki-shell wiki-top ad-uid:rect-39"/>
          <p:cNvSpPr/>
          <p:nvPr/>
        </p:nvSpPr>
        <p:spPr>
          <a:xfrm>
            <a:off x="3405683" y="3273186"/>
            <a:ext cx="1298722" cy="79553"/>
          </a:xfrm>
          <a:prstGeom prst="roundRect">
            <a:avLst>
              <a:gd name="adj" fmla="val 1532525"/>
            </a:avLst>
          </a:prstGeom>
          <a:solidFill>
            <a:srgbClr val="CCFBF1"/>
          </a:solidFill>
          <a:ln/>
        </p:spPr>
      </p:sp>
      <p:sp>
        <p:nvSpPr>
          <p:cNvPr id="41" name="text overview wiki-shell ad-node-title ad-uid:text-40"/>
          <p:cNvSpPr/>
          <p:nvPr/>
        </p:nvSpPr>
        <p:spPr>
          <a:xfrm>
            <a:off x="3525012" y="3400928"/>
            <a:ext cx="1060155" cy="153711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835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35" dirty="0"/>
          </a:p>
        </p:txBody>
      </p:sp>
      <p:sp>
        <p:nvSpPr>
          <p:cNvPr id="42" name="text overview wiki-shell ad-node-body ad-uid:text-41"/>
          <p:cNvSpPr/>
          <p:nvPr/>
        </p:nvSpPr>
        <p:spPr>
          <a:xfrm>
            <a:off x="3525012" y="3577773"/>
            <a:ext cx="1060155" cy="227960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1700"/>
              </a:lnSpc>
              <a:buNone/>
            </a:pPr>
            <a:r>
              <a:rPr lang="en-US" altLang="en-US" sz="626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top-level thesis</a:t>
            </a:r>
            <a:br/>
            <a:pPr algn="ctr" indent="0" marL="0">
              <a:lnSpc>
                <a:spcPct val="141700"/>
              </a:lnSpc>
              <a:buNone/>
            </a:pPr>
            <a:r>
              <a:rPr lang="en-US" altLang="en-US" sz="626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synthesis</a:t>
            </a:r>
            <a:endParaRPr lang="en-US" sz="626" dirty="0"/>
          </a:p>
        </p:txBody>
      </p:sp>
      <p:sp>
        <p:nvSpPr>
          <p:cNvPr id="43" name="rect concepts wiki-shell ad-node-box ad-uid:rect-42"/>
          <p:cNvSpPr/>
          <p:nvPr/>
        </p:nvSpPr>
        <p:spPr>
          <a:xfrm>
            <a:off x="4995916" y="3273186"/>
            <a:ext cx="1298722" cy="583113"/>
          </a:xfrm>
          <a:prstGeom prst="roundRect">
            <a:avLst>
              <a:gd name="adj" fmla="val 28509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44" name="rect concepts wiki-shell wiki-top ad-uid:rect-43"/>
          <p:cNvSpPr/>
          <p:nvPr/>
        </p:nvSpPr>
        <p:spPr>
          <a:xfrm>
            <a:off x="4995916" y="3273186"/>
            <a:ext cx="1298722" cy="79553"/>
          </a:xfrm>
          <a:prstGeom prst="roundRect">
            <a:avLst>
              <a:gd name="adj" fmla="val 1532525"/>
            </a:avLst>
          </a:prstGeom>
          <a:solidFill>
            <a:srgbClr val="CCFBF1"/>
          </a:solidFill>
          <a:ln/>
        </p:spPr>
      </p:sp>
      <p:sp>
        <p:nvSpPr>
          <p:cNvPr id="45" name="text concepts wiki-shell ad-node-title ad-uid:text-44"/>
          <p:cNvSpPr/>
          <p:nvPr/>
        </p:nvSpPr>
        <p:spPr>
          <a:xfrm>
            <a:off x="5115245" y="3400928"/>
            <a:ext cx="1060155" cy="153711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835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Pages</a:t>
            </a:r>
            <a:endParaRPr lang="en-US" sz="835" dirty="0"/>
          </a:p>
        </p:txBody>
      </p:sp>
      <p:sp>
        <p:nvSpPr>
          <p:cNvPr id="46" name="text concepts wiki-shell ad-node-body ad-uid:text-45"/>
          <p:cNvSpPr/>
          <p:nvPr/>
        </p:nvSpPr>
        <p:spPr>
          <a:xfrm>
            <a:off x="5115245" y="3577773"/>
            <a:ext cx="1060155" cy="227960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1700"/>
              </a:lnSpc>
              <a:buNone/>
            </a:pPr>
            <a:r>
              <a:rPr lang="en-US" altLang="en-US" sz="626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topics, claims,</a:t>
            </a:r>
            <a:br/>
            <a:pPr algn="ctr" indent="0" marL="0">
              <a:lnSpc>
                <a:spcPct val="141700"/>
              </a:lnSpc>
              <a:buNone/>
            </a:pPr>
            <a:r>
              <a:rPr lang="en-US" altLang="en-US" sz="626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explanations</a:t>
            </a:r>
            <a:endParaRPr lang="en-US" sz="626" dirty="0"/>
          </a:p>
        </p:txBody>
      </p:sp>
      <p:sp>
        <p:nvSpPr>
          <p:cNvPr id="47" name="rect entities wiki-shell ad-node-box ad-uid:rect-46"/>
          <p:cNvSpPr/>
          <p:nvPr/>
        </p:nvSpPr>
        <p:spPr>
          <a:xfrm>
            <a:off x="6586149" y="3273186"/>
            <a:ext cx="1298722" cy="583113"/>
          </a:xfrm>
          <a:prstGeom prst="roundRect">
            <a:avLst>
              <a:gd name="adj" fmla="val 28509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48" name="rect entities wiki-shell wiki-top ad-uid:rect-47"/>
          <p:cNvSpPr/>
          <p:nvPr/>
        </p:nvSpPr>
        <p:spPr>
          <a:xfrm>
            <a:off x="6586149" y="3273186"/>
            <a:ext cx="1298722" cy="79553"/>
          </a:xfrm>
          <a:prstGeom prst="roundRect">
            <a:avLst>
              <a:gd name="adj" fmla="val 1532525"/>
            </a:avLst>
          </a:prstGeom>
          <a:solidFill>
            <a:srgbClr val="CCFBF1"/>
          </a:solidFill>
          <a:ln/>
        </p:spPr>
      </p:sp>
      <p:sp>
        <p:nvSpPr>
          <p:cNvPr id="49" name="text entities wiki-shell ad-node-title ad-uid:text-48"/>
          <p:cNvSpPr/>
          <p:nvPr/>
        </p:nvSpPr>
        <p:spPr>
          <a:xfrm>
            <a:off x="6705478" y="3400928"/>
            <a:ext cx="1060155" cy="153711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835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Pages</a:t>
            </a:r>
            <a:endParaRPr lang="en-US" sz="835" dirty="0"/>
          </a:p>
        </p:txBody>
      </p:sp>
      <p:sp>
        <p:nvSpPr>
          <p:cNvPr id="50" name="text entities wiki-shell ad-node-body ad-uid:text-49"/>
          <p:cNvSpPr/>
          <p:nvPr/>
        </p:nvSpPr>
        <p:spPr>
          <a:xfrm>
            <a:off x="6705478" y="3577773"/>
            <a:ext cx="1060155" cy="227960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1700"/>
              </a:lnSpc>
              <a:buNone/>
            </a:pPr>
            <a:r>
              <a:rPr lang="en-US" altLang="en-US" sz="626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tools,</a:t>
            </a:r>
            <a:br/>
            <a:pPr algn="ctr" indent="0" marL="0">
              <a:lnSpc>
                <a:spcPct val="141700"/>
              </a:lnSpc>
              <a:buNone/>
            </a:pPr>
            <a:r>
              <a:rPr lang="en-US" altLang="en-US" sz="626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systems, projects</a:t>
            </a:r>
            <a:endParaRPr lang="en-US" sz="626" dirty="0"/>
          </a:p>
        </p:txBody>
      </p:sp>
      <p:sp>
        <p:nvSpPr>
          <p:cNvPr id="51" name="rect sources wiki-shell ad-node-box ad-uid:rect-50"/>
          <p:cNvSpPr/>
          <p:nvPr/>
        </p:nvSpPr>
        <p:spPr>
          <a:xfrm>
            <a:off x="4200845" y="4068348"/>
            <a:ext cx="1298722" cy="530078"/>
          </a:xfrm>
          <a:prstGeom prst="roundRect">
            <a:avLst>
              <a:gd name="adj" fmla="val 34501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52" name="rect sources wiki-shell wiki-top ad-uid:rect-51"/>
          <p:cNvSpPr/>
          <p:nvPr/>
        </p:nvSpPr>
        <p:spPr>
          <a:xfrm>
            <a:off x="4200845" y="4068348"/>
            <a:ext cx="1298722" cy="79553"/>
          </a:xfrm>
          <a:prstGeom prst="roundRect">
            <a:avLst>
              <a:gd name="adj" fmla="val 1532525"/>
            </a:avLst>
          </a:prstGeom>
          <a:solidFill>
            <a:srgbClr val="CCFBF1"/>
          </a:solidFill>
          <a:ln/>
        </p:spPr>
      </p:sp>
      <p:sp>
        <p:nvSpPr>
          <p:cNvPr id="53" name="text sources wiki-shell ad-node-title ad-uid:text-52"/>
          <p:cNvSpPr/>
          <p:nvPr/>
        </p:nvSpPr>
        <p:spPr>
          <a:xfrm>
            <a:off x="4320083" y="4182831"/>
            <a:ext cx="1060155" cy="153711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835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Summaries</a:t>
            </a:r>
            <a:endParaRPr lang="en-US" sz="835" dirty="0"/>
          </a:p>
        </p:txBody>
      </p:sp>
      <p:sp>
        <p:nvSpPr>
          <p:cNvPr id="54" name="text sources wiki-shell ad-node-body ad-uid:text-53"/>
          <p:cNvSpPr/>
          <p:nvPr/>
        </p:nvSpPr>
        <p:spPr>
          <a:xfrm>
            <a:off x="4320083" y="4346326"/>
            <a:ext cx="1060155" cy="227960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1700"/>
              </a:lnSpc>
              <a:buNone/>
            </a:pPr>
            <a:r>
              <a:rPr lang="en-US" altLang="en-US" sz="626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 per source</a:t>
            </a:r>
            <a:br/>
            <a:pPr algn="ctr" indent="0" marL="0">
              <a:lnSpc>
                <a:spcPct val="141700"/>
              </a:lnSpc>
              <a:buNone/>
            </a:pPr>
            <a:r>
              <a:rPr lang="en-US" altLang="en-US" sz="626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traceability</a:t>
            </a:r>
            <a:endParaRPr lang="en-US" sz="626" dirty="0"/>
          </a:p>
        </p:txBody>
      </p:sp>
      <p:sp>
        <p:nvSpPr>
          <p:cNvPr id="55" name="rect comparisons wiki-shell ad-node-box ad-uid:rect-54"/>
          <p:cNvSpPr/>
          <p:nvPr/>
        </p:nvSpPr>
        <p:spPr>
          <a:xfrm>
            <a:off x="5791078" y="4068348"/>
            <a:ext cx="1298722" cy="530078"/>
          </a:xfrm>
          <a:prstGeom prst="roundRect">
            <a:avLst>
              <a:gd name="adj" fmla="val 34501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56" name="rect comparisons wiki-shell wiki-top ad-uid:rect-55"/>
          <p:cNvSpPr/>
          <p:nvPr/>
        </p:nvSpPr>
        <p:spPr>
          <a:xfrm>
            <a:off x="5791078" y="4068348"/>
            <a:ext cx="1298722" cy="79553"/>
          </a:xfrm>
          <a:prstGeom prst="roundRect">
            <a:avLst>
              <a:gd name="adj" fmla="val 1532525"/>
            </a:avLst>
          </a:prstGeom>
          <a:solidFill>
            <a:srgbClr val="CCFBF1"/>
          </a:solidFill>
          <a:ln/>
        </p:spPr>
      </p:sp>
      <p:sp>
        <p:nvSpPr>
          <p:cNvPr id="57" name="text comparisons wiki-shell ad-node-title ad-uid:text-56"/>
          <p:cNvSpPr/>
          <p:nvPr/>
        </p:nvSpPr>
        <p:spPr>
          <a:xfrm>
            <a:off x="5910316" y="4182831"/>
            <a:ext cx="1060155" cy="153711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835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Comparisons</a:t>
            </a:r>
            <a:endParaRPr lang="en-US" sz="835" dirty="0"/>
          </a:p>
        </p:txBody>
      </p:sp>
      <p:sp>
        <p:nvSpPr>
          <p:cNvPr id="58" name="text comparisons wiki-shell ad-node-body ad-uid:text-57"/>
          <p:cNvSpPr/>
          <p:nvPr/>
        </p:nvSpPr>
        <p:spPr>
          <a:xfrm>
            <a:off x="5910316" y="4346326"/>
            <a:ext cx="1060155" cy="227960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1700"/>
              </a:lnSpc>
              <a:buNone/>
            </a:pPr>
            <a:r>
              <a:rPr lang="en-US" altLang="en-US" sz="626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trade-offs, diffs,</a:t>
            </a:r>
            <a:br/>
            <a:pPr algn="ctr" indent="0" marL="0">
              <a:lnSpc>
                <a:spcPct val="141700"/>
              </a:lnSpc>
              <a:buNone/>
            </a:pPr>
            <a:r>
              <a:rPr lang="en-US" altLang="en-US" sz="626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views</a:t>
            </a:r>
            <a:endParaRPr lang="en-US" sz="626" dirty="0"/>
          </a:p>
        </p:txBody>
      </p:sp>
      <p:sp>
        <p:nvSpPr>
          <p:cNvPr id="59" name="rect stage-box ad-uid:rect-58"/>
          <p:cNvSpPr/>
          <p:nvPr/>
        </p:nvSpPr>
        <p:spPr>
          <a:xfrm>
            <a:off x="3577956" y="4664629"/>
            <a:ext cx="1457736" cy="185532"/>
          </a:xfrm>
          <a:prstGeom prst="roundRect">
            <a:avLst>
              <a:gd name="adj" fmla="val 211237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60" name="rect index-top ad-uid:rect-59"/>
          <p:cNvSpPr/>
          <p:nvPr/>
        </p:nvSpPr>
        <p:spPr>
          <a:xfrm>
            <a:off x="3577956" y="4664629"/>
            <a:ext cx="1457736" cy="53035"/>
          </a:xfrm>
          <a:prstGeom prst="roundRect">
            <a:avLst>
              <a:gd name="adj" fmla="val 2586217"/>
            </a:avLst>
          </a:prstGeom>
          <a:solidFill>
            <a:srgbClr val="FEF3C7"/>
          </a:solidFill>
          <a:ln/>
        </p:spPr>
      </p:sp>
      <p:sp>
        <p:nvSpPr>
          <p:cNvPr id="61" name="text ad-node-body ad-uid:text-60"/>
          <p:cNvSpPr/>
          <p:nvPr/>
        </p:nvSpPr>
        <p:spPr>
          <a:xfrm>
            <a:off x="3802898" y="4723516"/>
            <a:ext cx="1007943" cy="198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300"/>
              </a:lnSpc>
              <a:buNone/>
            </a:pPr>
            <a:r>
              <a:rPr lang="en-US" altLang="en-US" sz="600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index.md</a:t>
            </a:r>
            <a:br/>
            <a:pPr algn="ctr" indent="0" marL="0">
              <a:lnSpc>
                <a:spcPct val="127300"/>
              </a:lnSpc>
              <a:buNone/>
            </a:pPr>
            <a:r>
              <a:rPr lang="en-US" altLang="en-US" sz="600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for navigation</a:t>
            </a:r>
            <a:endParaRPr lang="en-US" sz="600" dirty="0"/>
          </a:p>
        </p:txBody>
      </p:sp>
      <p:sp>
        <p:nvSpPr>
          <p:cNvPr id="62" name="rect stage-box ad-uid:rect-61"/>
          <p:cNvSpPr/>
          <p:nvPr/>
        </p:nvSpPr>
        <p:spPr>
          <a:xfrm>
            <a:off x="6254862" y="4664629"/>
            <a:ext cx="1457736" cy="185532"/>
          </a:xfrm>
          <a:prstGeom prst="roundRect">
            <a:avLst>
              <a:gd name="adj" fmla="val 211237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63" name="rect index-top ad-uid:rect-62"/>
          <p:cNvSpPr/>
          <p:nvPr/>
        </p:nvSpPr>
        <p:spPr>
          <a:xfrm>
            <a:off x="6254862" y="4664629"/>
            <a:ext cx="1457736" cy="53035"/>
          </a:xfrm>
          <a:prstGeom prst="roundRect">
            <a:avLst>
              <a:gd name="adj" fmla="val 2586217"/>
            </a:avLst>
          </a:prstGeom>
          <a:solidFill>
            <a:srgbClr val="FEF3C7"/>
          </a:solidFill>
          <a:ln/>
        </p:spPr>
      </p:sp>
      <p:sp>
        <p:nvSpPr>
          <p:cNvPr id="64" name="text ad-node-body ad-uid:text-63"/>
          <p:cNvSpPr/>
          <p:nvPr/>
        </p:nvSpPr>
        <p:spPr>
          <a:xfrm>
            <a:off x="6297107" y="4723516"/>
            <a:ext cx="1373246" cy="198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300"/>
              </a:lnSpc>
              <a:buNone/>
            </a:pPr>
            <a:r>
              <a:rPr lang="en-US" altLang="en-US" sz="600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log.md</a:t>
            </a:r>
            <a:br/>
            <a:pPr algn="ctr" indent="0" marL="0">
              <a:lnSpc>
                <a:spcPct val="127300"/>
              </a:lnSpc>
              <a:buNone/>
            </a:pPr>
            <a:r>
              <a:rPr lang="en-US" altLang="en-US" sz="600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operation timeline</a:t>
            </a:r>
            <a:endParaRPr lang="en-US" sz="600" dirty="0"/>
          </a:p>
        </p:txBody>
      </p:sp>
      <p:sp>
        <p:nvSpPr>
          <p:cNvPr id="65" name="rect human-agent usage-loop ad-node-box ad-uid:rect-64"/>
          <p:cNvSpPr/>
          <p:nvPr/>
        </p:nvSpPr>
        <p:spPr>
          <a:xfrm>
            <a:off x="9011229" y="2120311"/>
            <a:ext cx="2438339" cy="715609"/>
          </a:xfrm>
          <a:prstGeom prst="roundRect">
            <a:avLst>
              <a:gd name="adj" fmla="val 21301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66" name="rect human-agent usage-loop human-top ad-uid:rect-65"/>
          <p:cNvSpPr/>
          <p:nvPr/>
        </p:nvSpPr>
        <p:spPr>
          <a:xfrm>
            <a:off x="9011229" y="2120311"/>
            <a:ext cx="2438339" cy="92720"/>
          </a:xfrm>
          <a:prstGeom prst="roundRect">
            <a:avLst>
              <a:gd name="adj" fmla="val 1267951"/>
            </a:avLst>
          </a:prstGeom>
          <a:solidFill>
            <a:srgbClr val="EDE9FE"/>
          </a:solidFill>
          <a:ln/>
        </p:spPr>
      </p:sp>
      <p:sp>
        <p:nvSpPr>
          <p:cNvPr id="67" name="text human-agent usage-loop ad-node-title ad-uid:text-66"/>
          <p:cNvSpPr/>
          <p:nvPr/>
        </p:nvSpPr>
        <p:spPr>
          <a:xfrm>
            <a:off x="9143817" y="2256282"/>
            <a:ext cx="2173346" cy="18251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991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+ LLM Pair</a:t>
            </a:r>
            <a:endParaRPr lang="en-US" sz="991" dirty="0"/>
          </a:p>
        </p:txBody>
      </p:sp>
      <p:sp>
        <p:nvSpPr>
          <p:cNvPr id="68" name="text human-agent usage-loop ad-node-body ad-uid:text-67"/>
          <p:cNvSpPr/>
          <p:nvPr/>
        </p:nvSpPr>
        <p:spPr>
          <a:xfrm>
            <a:off x="9143817" y="2451872"/>
            <a:ext cx="2173346" cy="36347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curates sources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asks questions.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does bookkeeping.</a:t>
            </a:r>
            <a:endParaRPr lang="en-US" sz="678" dirty="0"/>
          </a:p>
        </p:txBody>
      </p:sp>
      <p:sp>
        <p:nvSpPr>
          <p:cNvPr id="69" name="rect obsidian usage-loop ad-node-box ad-uid:rect-68"/>
          <p:cNvSpPr/>
          <p:nvPr/>
        </p:nvSpPr>
        <p:spPr>
          <a:xfrm>
            <a:off x="9011229" y="3061137"/>
            <a:ext cx="2438339" cy="715609"/>
          </a:xfrm>
          <a:prstGeom prst="roundRect">
            <a:avLst>
              <a:gd name="adj" fmla="val 21301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70" name="rect obsidian usage-loop tool-top ad-uid:rect-69"/>
          <p:cNvSpPr/>
          <p:nvPr/>
        </p:nvSpPr>
        <p:spPr>
          <a:xfrm>
            <a:off x="9011229" y="3061137"/>
            <a:ext cx="2438339" cy="92720"/>
          </a:xfrm>
          <a:prstGeom prst="roundRect">
            <a:avLst>
              <a:gd name="adj" fmla="val 1267951"/>
            </a:avLst>
          </a:prstGeom>
          <a:solidFill>
            <a:srgbClr val="FCE7F3"/>
          </a:solidFill>
          <a:ln/>
        </p:spPr>
      </p:sp>
      <p:sp>
        <p:nvSpPr>
          <p:cNvPr id="71" name="text obsidian usage-loop ad-node-title ad-uid:text-70"/>
          <p:cNvSpPr/>
          <p:nvPr/>
        </p:nvSpPr>
        <p:spPr>
          <a:xfrm>
            <a:off x="9143817" y="3197108"/>
            <a:ext cx="2173346" cy="18251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991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Frontend</a:t>
            </a:r>
            <a:endParaRPr lang="en-US" sz="991" dirty="0"/>
          </a:p>
        </p:txBody>
      </p:sp>
      <p:sp>
        <p:nvSpPr>
          <p:cNvPr id="72" name="text obsidian usage-loop ad-node-body ad-uid:text-71"/>
          <p:cNvSpPr/>
          <p:nvPr/>
        </p:nvSpPr>
        <p:spPr>
          <a:xfrm>
            <a:off x="9143817" y="3392698"/>
            <a:ext cx="2173346" cy="36347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graph view,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backlinks, and pages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knowledge IDE.</a:t>
            </a:r>
            <a:endParaRPr lang="en-US" sz="678" dirty="0"/>
          </a:p>
        </p:txBody>
      </p:sp>
      <p:sp>
        <p:nvSpPr>
          <p:cNvPr id="73" name="rect search-cli usage-loop ad-node-box ad-uid:rect-72"/>
          <p:cNvSpPr/>
          <p:nvPr/>
        </p:nvSpPr>
        <p:spPr>
          <a:xfrm>
            <a:off x="9011229" y="4002054"/>
            <a:ext cx="2438339" cy="715609"/>
          </a:xfrm>
          <a:prstGeom prst="roundRect">
            <a:avLst>
              <a:gd name="adj" fmla="val 21301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74" name="rect search-cli usage-loop tool-top ad-uid:rect-73"/>
          <p:cNvSpPr/>
          <p:nvPr/>
        </p:nvSpPr>
        <p:spPr>
          <a:xfrm>
            <a:off x="9011229" y="4002054"/>
            <a:ext cx="2438339" cy="92720"/>
          </a:xfrm>
          <a:prstGeom prst="roundRect">
            <a:avLst>
              <a:gd name="adj" fmla="val 1267951"/>
            </a:avLst>
          </a:prstGeom>
          <a:solidFill>
            <a:srgbClr val="FCE7F3"/>
          </a:solidFill>
          <a:ln/>
        </p:spPr>
      </p:sp>
      <p:sp>
        <p:nvSpPr>
          <p:cNvPr id="75" name="text search-cli usage-loop ad-node-title ad-uid:text-74"/>
          <p:cNvSpPr/>
          <p:nvPr/>
        </p:nvSpPr>
        <p:spPr>
          <a:xfrm>
            <a:off x="9143817" y="4138026"/>
            <a:ext cx="2173346" cy="18251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991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Search and CLI</a:t>
            </a:r>
            <a:endParaRPr lang="en-US" sz="991" dirty="0"/>
          </a:p>
        </p:txBody>
      </p:sp>
      <p:sp>
        <p:nvSpPr>
          <p:cNvPr id="76" name="text search-cli usage-loop ad-node-body ad-uid:text-75"/>
          <p:cNvSpPr/>
          <p:nvPr/>
        </p:nvSpPr>
        <p:spPr>
          <a:xfrm>
            <a:off x="9143817" y="4333616"/>
            <a:ext cx="2173346" cy="36347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small scale the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is enough.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qmd helps at larger scale.</a:t>
            </a:r>
            <a:endParaRPr lang="en-US" sz="678" dirty="0"/>
          </a:p>
        </p:txBody>
      </p:sp>
      <p:sp>
        <p:nvSpPr>
          <p:cNvPr id="77" name="rect outputs usage-loop ad-node-box ad-uid:rect-76"/>
          <p:cNvSpPr/>
          <p:nvPr/>
        </p:nvSpPr>
        <p:spPr>
          <a:xfrm>
            <a:off x="9011229" y="4850160"/>
            <a:ext cx="2438339" cy="702351"/>
          </a:xfrm>
          <a:prstGeom prst="roundRect">
            <a:avLst>
              <a:gd name="adj" fmla="val 22106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78" name="rect outputs usage-loop tool-top ad-uid:rect-77"/>
          <p:cNvSpPr/>
          <p:nvPr/>
        </p:nvSpPr>
        <p:spPr>
          <a:xfrm>
            <a:off x="9011229" y="4850160"/>
            <a:ext cx="2438339" cy="92720"/>
          </a:xfrm>
          <a:prstGeom prst="roundRect">
            <a:avLst>
              <a:gd name="adj" fmla="val 1267951"/>
            </a:avLst>
          </a:prstGeom>
          <a:solidFill>
            <a:srgbClr val="FCE7F3"/>
          </a:solidFill>
          <a:ln/>
        </p:spPr>
      </p:sp>
      <p:sp>
        <p:nvSpPr>
          <p:cNvPr id="79" name="text outputs usage-loop ad-node-title ad-uid:text-78"/>
          <p:cNvSpPr/>
          <p:nvPr/>
        </p:nvSpPr>
        <p:spPr>
          <a:xfrm>
            <a:off x="9143817" y="5078943"/>
            <a:ext cx="2173346" cy="18251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991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That Can Feed Back</a:t>
            </a:r>
            <a:endParaRPr lang="en-US" sz="991" dirty="0"/>
          </a:p>
        </p:txBody>
      </p:sp>
      <p:sp>
        <p:nvSpPr>
          <p:cNvPr id="80" name="text outputs usage-loop ad-node-body ad-uid:text-79"/>
          <p:cNvSpPr/>
          <p:nvPr/>
        </p:nvSpPr>
        <p:spPr>
          <a:xfrm>
            <a:off x="9143817" y="5274534"/>
            <a:ext cx="2173346" cy="36347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answers, comparison tables,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slides, charts, or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678" dirty="0">
                <a:solidFill>
                  <a:srgbClr val="4E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pages from valuable analysis</a:t>
            </a:r>
            <a:endParaRPr lang="en-US" sz="678" dirty="0"/>
          </a:p>
        </p:txBody>
      </p:sp>
      <p:sp>
        <p:nvSpPr>
          <p:cNvPr id="81" name="rect ingest-op ad-node-box ad-uid:rect-80"/>
          <p:cNvSpPr/>
          <p:nvPr/>
        </p:nvSpPr>
        <p:spPr>
          <a:xfrm>
            <a:off x="3008193" y="5989869"/>
            <a:ext cx="1722730" cy="357805"/>
          </a:xfrm>
          <a:prstGeom prst="roundRect">
            <a:avLst>
              <a:gd name="adj" fmla="val 94659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82" name="rect ingest-op operation-top ad-uid:rect-81"/>
          <p:cNvSpPr/>
          <p:nvPr/>
        </p:nvSpPr>
        <p:spPr>
          <a:xfrm>
            <a:off x="3008193" y="5989869"/>
            <a:ext cx="1722730" cy="79553"/>
          </a:xfrm>
          <a:prstGeom prst="roundRect">
            <a:avLst>
              <a:gd name="adj" fmla="val 1915742"/>
            </a:avLst>
          </a:prstGeom>
          <a:solidFill>
            <a:srgbClr val="E0F2FE"/>
          </a:solidFill>
          <a:ln/>
        </p:spPr>
      </p:sp>
      <p:sp>
        <p:nvSpPr>
          <p:cNvPr id="83" name="text ingest-op ad-node-title ad-uid:text-82"/>
          <p:cNvSpPr/>
          <p:nvPr/>
        </p:nvSpPr>
        <p:spPr>
          <a:xfrm>
            <a:off x="3140690" y="6118159"/>
            <a:ext cx="1457736" cy="163312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887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887" dirty="0"/>
          </a:p>
        </p:txBody>
      </p:sp>
      <p:sp>
        <p:nvSpPr>
          <p:cNvPr id="84" name="rect query-op ad-node-box ad-uid:rect-83"/>
          <p:cNvSpPr/>
          <p:nvPr/>
        </p:nvSpPr>
        <p:spPr>
          <a:xfrm>
            <a:off x="5234483" y="5989869"/>
            <a:ext cx="1722730" cy="357805"/>
          </a:xfrm>
          <a:prstGeom prst="roundRect">
            <a:avLst>
              <a:gd name="adj" fmla="val 94659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85" name="rect query-op operation-top ad-uid:rect-84"/>
          <p:cNvSpPr/>
          <p:nvPr/>
        </p:nvSpPr>
        <p:spPr>
          <a:xfrm>
            <a:off x="5234483" y="5989869"/>
            <a:ext cx="1722730" cy="79553"/>
          </a:xfrm>
          <a:prstGeom prst="roundRect">
            <a:avLst>
              <a:gd name="adj" fmla="val 1915742"/>
            </a:avLst>
          </a:prstGeom>
          <a:solidFill>
            <a:srgbClr val="E0F2FE"/>
          </a:solidFill>
          <a:ln/>
        </p:spPr>
      </p:sp>
      <p:sp>
        <p:nvSpPr>
          <p:cNvPr id="86" name="text query-op ad-node-title ad-uid:text-85"/>
          <p:cNvSpPr/>
          <p:nvPr/>
        </p:nvSpPr>
        <p:spPr>
          <a:xfrm>
            <a:off x="5366979" y="6118159"/>
            <a:ext cx="1457736" cy="163312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887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887" dirty="0"/>
          </a:p>
        </p:txBody>
      </p:sp>
      <p:sp>
        <p:nvSpPr>
          <p:cNvPr id="87" name="rect lint-op ad-node-box ad-uid:rect-86"/>
          <p:cNvSpPr/>
          <p:nvPr/>
        </p:nvSpPr>
        <p:spPr>
          <a:xfrm>
            <a:off x="7460772" y="5989869"/>
            <a:ext cx="1722730" cy="357805"/>
          </a:xfrm>
          <a:prstGeom prst="roundRect">
            <a:avLst>
              <a:gd name="adj" fmla="val 94659"/>
            </a:avLst>
          </a:prstGeom>
          <a:solidFill>
            <a:srgbClr val="FFFFFF"/>
          </a:solidFill>
          <a:ln w="13208" cap="flat">
            <a:solidFill>
              <a:srgbClr val="CFDAE4"/>
            </a:solidFill>
            <a:prstDash val="solid"/>
            <a:miter lim="800000"/>
          </a:ln>
        </p:spPr>
      </p:sp>
      <p:sp>
        <p:nvSpPr>
          <p:cNvPr id="88" name="rect lint-op operation-top ad-uid:rect-87"/>
          <p:cNvSpPr/>
          <p:nvPr/>
        </p:nvSpPr>
        <p:spPr>
          <a:xfrm>
            <a:off x="7460772" y="5989869"/>
            <a:ext cx="1722730" cy="79553"/>
          </a:xfrm>
          <a:prstGeom prst="roundRect">
            <a:avLst>
              <a:gd name="adj" fmla="val 1915742"/>
            </a:avLst>
          </a:prstGeom>
          <a:solidFill>
            <a:srgbClr val="E0F2FE"/>
          </a:solidFill>
          <a:ln/>
        </p:spPr>
      </p:sp>
      <p:sp>
        <p:nvSpPr>
          <p:cNvPr id="89" name="text lint-op ad-node-title ad-uid:text-88"/>
          <p:cNvSpPr/>
          <p:nvPr/>
        </p:nvSpPr>
        <p:spPr>
          <a:xfrm>
            <a:off x="7593269" y="6118159"/>
            <a:ext cx="1457736" cy="163312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887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endParaRPr lang="en-US" sz="887" dirty="0"/>
          </a:p>
        </p:txBody>
      </p:sp>
      <p:sp>
        <p:nvSpPr>
          <p:cNvPr id="90" name="path ad-edge ad-uid:path-89"/>
          <p:cNvSpPr/>
          <p:nvPr/>
        </p:nvSpPr>
        <p:spPr>
          <a:xfrm>
            <a:off x="2332360" y="5154930"/>
            <a:ext cx="675833" cy="1013795"/>
          </a:xfrm>
          <a:custGeom>
            <a:avLst/>
            <a:gdLst/>
            <a:ahLst/>
            <a:cxnLst/>
            <a:rect l="l" t="t" r="r" b="b"/>
            <a:pathLst>
              <a:path w="675833" h="1013795">
                <a:moveTo>
                  <a:pt x="0" y="0"/>
                </a:moveTo>
                <a:lnTo>
                  <a:pt x="410840" y="0"/>
                </a:lnTo>
                <a:lnTo>
                  <a:pt x="410840" y="1013795"/>
                </a:lnTo>
                <a:lnTo>
                  <a:pt x="675833" y="1013795"/>
                </a:lnTo>
              </a:path>
            </a:pathLst>
          </a:custGeom>
          <a:ln w="15875" cap="flat">
            <a:solidFill>
              <a:srgbClr val="496478"/>
            </a:solidFill>
            <a:prstDash val="solid"/>
            <a:tailEnd type="triangle"/>
            <a:miter lim="800000"/>
          </a:ln>
        </p:spPr>
      </p:sp>
      <p:sp>
        <p:nvSpPr>
          <p:cNvPr id="91" name="path ad-edge ad-uid:path-90"/>
          <p:cNvSpPr/>
          <p:nvPr/>
        </p:nvSpPr>
        <p:spPr>
          <a:xfrm>
            <a:off x="2743109" y="2610612"/>
            <a:ext cx="2902123" cy="3558113"/>
          </a:xfrm>
          <a:custGeom>
            <a:avLst/>
            <a:gdLst/>
            <a:ahLst/>
            <a:cxnLst/>
            <a:rect l="l" t="t" r="r" b="b"/>
            <a:pathLst>
              <a:path w="2902123" h="3558113">
                <a:moveTo>
                  <a:pt x="2902123" y="0"/>
                </a:moveTo>
                <a:lnTo>
                  <a:pt x="2902123" y="39776"/>
                </a:lnTo>
                <a:lnTo>
                  <a:pt x="0" y="39776"/>
                </a:lnTo>
                <a:lnTo>
                  <a:pt x="0" y="3558113"/>
                </a:lnTo>
                <a:lnTo>
                  <a:pt x="264993" y="3558113"/>
                </a:lnTo>
              </a:path>
            </a:pathLst>
          </a:custGeom>
          <a:ln w="15875" cap="flat">
            <a:solidFill>
              <a:srgbClr val="496478"/>
            </a:solidFill>
            <a:prstDash val="solid"/>
            <a:tailEnd type="triangle"/>
            <a:miter lim="800000"/>
          </a:ln>
        </p:spPr>
      </p:sp>
      <p:sp>
        <p:nvSpPr>
          <p:cNvPr id="92" name="path ad-edge ad-uid:path-91"/>
          <p:cNvSpPr/>
          <p:nvPr/>
        </p:nvSpPr>
        <p:spPr>
          <a:xfrm>
            <a:off x="5645323" y="2610612"/>
            <a:ext cx="2623871" cy="3379257"/>
          </a:xfrm>
          <a:custGeom>
            <a:avLst/>
            <a:gdLst/>
            <a:ahLst/>
            <a:cxnLst/>
            <a:rect l="l" t="t" r="r" b="b"/>
            <a:pathLst>
              <a:path w="2623871" h="3379257">
                <a:moveTo>
                  <a:pt x="0" y="0"/>
                </a:moveTo>
                <a:lnTo>
                  <a:pt x="0" y="39776"/>
                </a:lnTo>
                <a:lnTo>
                  <a:pt x="2623871" y="39776"/>
                </a:lnTo>
                <a:lnTo>
                  <a:pt x="2623871" y="3180466"/>
                </a:lnTo>
                <a:lnTo>
                  <a:pt x="450525" y="3180466"/>
                </a:lnTo>
                <a:lnTo>
                  <a:pt x="450525" y="3379257"/>
                </a:lnTo>
              </a:path>
            </a:pathLst>
          </a:custGeom>
          <a:ln w="15875" cap="flat">
            <a:solidFill>
              <a:srgbClr val="496478"/>
            </a:solidFill>
            <a:prstDash val="solid"/>
            <a:tailEnd type="triangle"/>
            <a:miter lim="800000"/>
          </a:ln>
        </p:spPr>
      </p:sp>
      <p:sp>
        <p:nvSpPr>
          <p:cNvPr id="93" name="path ad-edge ad-uid:path-92"/>
          <p:cNvSpPr/>
          <p:nvPr/>
        </p:nvSpPr>
        <p:spPr>
          <a:xfrm>
            <a:off x="5645323" y="2610612"/>
            <a:ext cx="2915382" cy="3379257"/>
          </a:xfrm>
          <a:custGeom>
            <a:avLst/>
            <a:gdLst/>
            <a:ahLst/>
            <a:cxnLst/>
            <a:rect l="l" t="t" r="r" b="b"/>
            <a:pathLst>
              <a:path w="2915382" h="3379257">
                <a:moveTo>
                  <a:pt x="0" y="0"/>
                </a:moveTo>
                <a:lnTo>
                  <a:pt x="0" y="39776"/>
                </a:lnTo>
                <a:lnTo>
                  <a:pt x="2915382" y="39776"/>
                </a:lnTo>
                <a:lnTo>
                  <a:pt x="2915382" y="3180466"/>
                </a:lnTo>
                <a:lnTo>
                  <a:pt x="2676906" y="3180466"/>
                </a:lnTo>
                <a:lnTo>
                  <a:pt x="2676906" y="3379257"/>
                </a:lnTo>
              </a:path>
            </a:pathLst>
          </a:custGeom>
          <a:ln w="15875" cap="flat">
            <a:solidFill>
              <a:srgbClr val="496478"/>
            </a:solidFill>
            <a:prstDash val="solid"/>
            <a:tailEnd type="triangle"/>
            <a:miter lim="800000"/>
          </a:ln>
        </p:spPr>
      </p:sp>
      <p:sp>
        <p:nvSpPr>
          <p:cNvPr id="94" name="path ad-edge ad-uid:path-93"/>
          <p:cNvSpPr/>
          <p:nvPr/>
        </p:nvSpPr>
        <p:spPr>
          <a:xfrm>
            <a:off x="3869558" y="4889937"/>
            <a:ext cx="437266" cy="1099932"/>
          </a:xfrm>
          <a:custGeom>
            <a:avLst/>
            <a:gdLst/>
            <a:ahLst/>
            <a:cxnLst/>
            <a:rect l="l" t="t" r="r" b="b"/>
            <a:pathLst>
              <a:path w="437266" h="1099932">
                <a:moveTo>
                  <a:pt x="0" y="1099932"/>
                </a:moveTo>
                <a:lnTo>
                  <a:pt x="0" y="66294"/>
                </a:lnTo>
                <a:lnTo>
                  <a:pt x="437266" y="66294"/>
                </a:lnTo>
                <a:lnTo>
                  <a:pt x="437266" y="0"/>
                </a:lnTo>
              </a:path>
            </a:pathLst>
          </a:custGeom>
          <a:ln w="15875" cap="flat">
            <a:solidFill>
              <a:srgbClr val="496478"/>
            </a:solidFill>
            <a:prstDash val="solid"/>
            <a:tailEnd type="triangle"/>
            <a:miter lim="800000"/>
          </a:ln>
        </p:spPr>
      </p:sp>
      <p:sp>
        <p:nvSpPr>
          <p:cNvPr id="95" name="text ad-edge-label ad-uid:text-94"/>
          <p:cNvSpPr/>
          <p:nvPr/>
        </p:nvSpPr>
        <p:spPr>
          <a:xfrm>
            <a:off x="4032595" y="5061387"/>
            <a:ext cx="733989" cy="1057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and update</a:t>
            </a:r>
            <a:endParaRPr lang="en-US" sz="600" dirty="0"/>
          </a:p>
        </p:txBody>
      </p:sp>
      <p:sp>
        <p:nvSpPr>
          <p:cNvPr id="96" name="path ad-edge ad-uid:path-95"/>
          <p:cNvSpPr/>
          <p:nvPr/>
        </p:nvSpPr>
        <p:spPr>
          <a:xfrm>
            <a:off x="6095848" y="4889937"/>
            <a:ext cx="887882" cy="1099932"/>
          </a:xfrm>
          <a:custGeom>
            <a:avLst/>
            <a:gdLst/>
            <a:ahLst/>
            <a:cxnLst/>
            <a:rect l="l" t="t" r="r" b="b"/>
            <a:pathLst>
              <a:path w="887882" h="1099932">
                <a:moveTo>
                  <a:pt x="0" y="1099932"/>
                </a:moveTo>
                <a:lnTo>
                  <a:pt x="0" y="66294"/>
                </a:lnTo>
                <a:lnTo>
                  <a:pt x="887882" y="66294"/>
                </a:lnTo>
                <a:lnTo>
                  <a:pt x="887882" y="0"/>
                </a:lnTo>
              </a:path>
            </a:pathLst>
          </a:custGeom>
          <a:ln w="15875" cap="flat">
            <a:solidFill>
              <a:srgbClr val="496478"/>
            </a:solidFill>
            <a:prstDash val="solid"/>
            <a:tailEnd type="triangle"/>
            <a:miter lim="800000"/>
          </a:ln>
        </p:spPr>
      </p:sp>
      <p:sp>
        <p:nvSpPr>
          <p:cNvPr id="97" name="text ad-edge-label ad-uid:text-96"/>
          <p:cNvSpPr/>
          <p:nvPr/>
        </p:nvSpPr>
        <p:spPr>
          <a:xfrm>
            <a:off x="6127852" y="5061387"/>
            <a:ext cx="916686" cy="1057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then synthesize</a:t>
            </a:r>
            <a:endParaRPr lang="en-US" sz="600" dirty="0"/>
          </a:p>
        </p:txBody>
      </p:sp>
      <p:sp>
        <p:nvSpPr>
          <p:cNvPr id="98" name="path ad-edge ad-uid:path-97"/>
          <p:cNvSpPr/>
          <p:nvPr/>
        </p:nvSpPr>
        <p:spPr>
          <a:xfrm>
            <a:off x="7792060" y="4889937"/>
            <a:ext cx="530078" cy="1099932"/>
          </a:xfrm>
          <a:custGeom>
            <a:avLst/>
            <a:gdLst/>
            <a:ahLst/>
            <a:cxnLst/>
            <a:rect l="l" t="t" r="r" b="b"/>
            <a:pathLst>
              <a:path w="530078" h="1099932">
                <a:moveTo>
                  <a:pt x="530078" y="1099932"/>
                </a:moveTo>
                <a:lnTo>
                  <a:pt x="530078" y="66294"/>
                </a:lnTo>
                <a:lnTo>
                  <a:pt x="0" y="66294"/>
                </a:lnTo>
                <a:lnTo>
                  <a:pt x="0" y="0"/>
                </a:lnTo>
              </a:path>
            </a:pathLst>
          </a:custGeom>
          <a:ln w="15875" cap="flat">
            <a:solidFill>
              <a:srgbClr val="496478"/>
            </a:solidFill>
            <a:prstDash val="solid"/>
            <a:tailEnd type="triangle"/>
            <a:miter lim="800000"/>
          </a:ln>
        </p:spPr>
      </p:sp>
      <p:sp>
        <p:nvSpPr>
          <p:cNvPr id="99" name="text ad-edge-label ad-uid:text-98"/>
          <p:cNvSpPr/>
          <p:nvPr/>
        </p:nvSpPr>
        <p:spPr>
          <a:xfrm>
            <a:off x="7766914" y="5061387"/>
            <a:ext cx="898581" cy="1057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drift and gaps</a:t>
            </a:r>
            <a:endParaRPr lang="en-US" sz="600" dirty="0"/>
          </a:p>
        </p:txBody>
      </p:sp>
      <p:sp>
        <p:nvSpPr>
          <p:cNvPr id="100" name="path ad-edge ad-uid:path-99"/>
          <p:cNvSpPr/>
          <p:nvPr/>
        </p:nvSpPr>
        <p:spPr>
          <a:xfrm>
            <a:off x="8096921" y="3379257"/>
            <a:ext cx="914400" cy="914"/>
          </a:xfrm>
          <a:custGeom>
            <a:avLst/>
            <a:gdLst/>
            <a:ahLst/>
            <a:cxnLst/>
            <a:rect l="l" t="t" r="r" b="b"/>
            <a:pathLst>
              <a:path w="914400" h="914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15875" cap="flat">
            <a:solidFill>
              <a:srgbClr val="496478"/>
            </a:solidFill>
            <a:prstDash val="solid"/>
            <a:tailEnd type="triangle"/>
            <a:miter lim="800000"/>
          </a:ln>
        </p:spPr>
      </p:sp>
      <p:sp>
        <p:nvSpPr>
          <p:cNvPr id="101" name="path ad-edge ad-uid:path-100"/>
          <p:cNvSpPr/>
          <p:nvPr/>
        </p:nvSpPr>
        <p:spPr>
          <a:xfrm>
            <a:off x="6957212" y="4320083"/>
            <a:ext cx="2054017" cy="1669694"/>
          </a:xfrm>
          <a:custGeom>
            <a:avLst/>
            <a:gdLst/>
            <a:ahLst/>
            <a:cxnLst/>
            <a:rect l="l" t="t" r="r" b="b"/>
            <a:pathLst>
              <a:path w="2054017" h="1669694">
                <a:moveTo>
                  <a:pt x="2054017" y="0"/>
                </a:moveTo>
                <a:lnTo>
                  <a:pt x="1696212" y="0"/>
                </a:lnTo>
                <a:lnTo>
                  <a:pt x="1696212" y="1537198"/>
                </a:lnTo>
                <a:lnTo>
                  <a:pt x="0" y="1537198"/>
                </a:lnTo>
                <a:lnTo>
                  <a:pt x="0" y="1669694"/>
                </a:lnTo>
              </a:path>
            </a:pathLst>
          </a:custGeom>
          <a:ln w="15875" cap="flat">
            <a:solidFill>
              <a:srgbClr val="496478"/>
            </a:solidFill>
            <a:prstDash val="solid"/>
            <a:tailEnd type="triangle"/>
            <a:miter lim="800000"/>
          </a:ln>
        </p:spPr>
      </p:sp>
      <p:sp>
        <p:nvSpPr>
          <p:cNvPr id="102" name="path ad-edge ad-uid:path-101"/>
          <p:cNvSpPr/>
          <p:nvPr/>
        </p:nvSpPr>
        <p:spPr>
          <a:xfrm>
            <a:off x="6957212" y="5261000"/>
            <a:ext cx="2054017" cy="907725"/>
          </a:xfrm>
          <a:custGeom>
            <a:avLst/>
            <a:gdLst/>
            <a:ahLst/>
            <a:cxnLst/>
            <a:rect l="l" t="t" r="r" b="b"/>
            <a:pathLst>
              <a:path w="2054017" h="907725">
                <a:moveTo>
                  <a:pt x="0" y="907725"/>
                </a:moveTo>
                <a:lnTo>
                  <a:pt x="198791" y="907725"/>
                </a:lnTo>
                <a:lnTo>
                  <a:pt x="198791" y="556595"/>
                </a:lnTo>
                <a:lnTo>
                  <a:pt x="1722730" y="556595"/>
                </a:lnTo>
                <a:lnTo>
                  <a:pt x="1722730" y="0"/>
                </a:lnTo>
                <a:lnTo>
                  <a:pt x="2054017" y="0"/>
                </a:lnTo>
              </a:path>
            </a:pathLst>
          </a:custGeom>
          <a:ln w="15875" cap="flat">
            <a:solidFill>
              <a:srgbClr val="496478"/>
            </a:solidFill>
            <a:prstDash val="solid"/>
            <a:tailEnd type="triangle"/>
            <a:miter lim="800000"/>
          </a:ln>
        </p:spPr>
      </p:sp>
      <p:sp>
        <p:nvSpPr>
          <p:cNvPr id="103" name="text ad-edge-label ad-uid:text-102"/>
          <p:cNvSpPr/>
          <p:nvPr/>
        </p:nvSpPr>
        <p:spPr>
          <a:xfrm>
            <a:off x="7331568" y="5631241"/>
            <a:ext cx="1053572" cy="1057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answers, tables, slides</a:t>
            </a:r>
            <a:endParaRPr lang="en-US" sz="600" dirty="0"/>
          </a:p>
        </p:txBody>
      </p:sp>
      <p:sp>
        <p:nvSpPr>
          <p:cNvPr id="104" name="path ad-edge ad-uid:path-103"/>
          <p:cNvSpPr/>
          <p:nvPr/>
        </p:nvSpPr>
        <p:spPr>
          <a:xfrm>
            <a:off x="7712598" y="4850160"/>
            <a:ext cx="1298722" cy="596372"/>
          </a:xfrm>
          <a:custGeom>
            <a:avLst/>
            <a:gdLst/>
            <a:ahLst/>
            <a:cxnLst/>
            <a:rect l="l" t="t" r="r" b="b"/>
            <a:pathLst>
              <a:path w="1298722" h="596372">
                <a:moveTo>
                  <a:pt x="1298722" y="596372"/>
                </a:moveTo>
                <a:lnTo>
                  <a:pt x="967344" y="596372"/>
                </a:lnTo>
                <a:lnTo>
                  <a:pt x="967344" y="53035"/>
                </a:lnTo>
                <a:lnTo>
                  <a:pt x="0" y="53035"/>
                </a:lnTo>
                <a:lnTo>
                  <a:pt x="0" y="0"/>
                </a:lnTo>
              </a:path>
            </a:pathLst>
          </a:custGeom>
          <a:ln w="15875" cap="flat">
            <a:solidFill>
              <a:srgbClr val="496478"/>
            </a:solidFill>
            <a:prstDash val="solid"/>
            <a:tailEnd type="triangle"/>
            <a:miter lim="800000"/>
          </a:ln>
        </p:spPr>
      </p:sp>
      <p:sp>
        <p:nvSpPr>
          <p:cNvPr id="105" name="text ad-legend ad-uid:text-104"/>
          <p:cNvSpPr/>
          <p:nvPr/>
        </p:nvSpPr>
        <p:spPr>
          <a:xfrm>
            <a:off x="477042" y="6685270"/>
            <a:ext cx="10917113" cy="115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626" dirty="0">
                <a:solidFill>
                  <a:srgbClr val="688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tip: left to right for the architecture, then bottom row for the operating loop. The core shift vs classic RAG is that knowledge is compiled into a persistent wiki instead of being rediscovered from raw chunks on every query.</a:t>
            </a:r>
            <a:endParaRPr lang="en-US" sz="62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auto-diagram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llm-wiki-architecture-editable-regression</dc:title>
  <dc:subject>Editable diagram export</dc:subject>
  <dc:creator>auto-diagram</dc:creator>
  <cp:lastModifiedBy>auto-diagram</cp:lastModifiedBy>
  <cp:revision>1</cp:revision>
  <dcterms:created xsi:type="dcterms:W3CDTF">2026-04-13T11:00:55Z</dcterms:created>
  <dcterms:modified xsi:type="dcterms:W3CDTF">2026-04-13T11:00:55Z</dcterms:modified>
</cp:coreProperties>
</file>