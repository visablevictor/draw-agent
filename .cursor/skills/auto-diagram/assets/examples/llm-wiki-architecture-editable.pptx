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7156003"/>
  <p:notesSz cx="7156003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1695" cy="7156003"/>
          </a:xfrm>
          <a:prstGeom prst="rect">
            <a:avLst>
              <a:gd name="adj" fmla="val 1022"/>
            </a:avLst>
          </a:prstGeom>
          <a:solidFill>
            <a:srgbClr val="F1F6FA"/>
          </a:solidFill>
          <a:ln/>
        </p:spPr>
      </p:sp>
      <p:sp>
        <p:nvSpPr>
          <p:cNvPr id="3" name="text ad-title"/>
          <p:cNvSpPr/>
          <p:nvPr/>
        </p:nvSpPr>
        <p:spPr>
          <a:xfrm>
            <a:off x="477042" y="314096"/>
            <a:ext cx="11476086" cy="30412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74" b="1" dirty="0">
                <a:solidFill>
                  <a:srgbClr val="163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Wiki: A Compiled Knowledge Architecture</a:t>
            </a:r>
            <a:endParaRPr lang="en-US" sz="1774" dirty="0"/>
          </a:p>
        </p:txBody>
      </p:sp>
      <p:sp>
        <p:nvSpPr>
          <p:cNvPr id="4" name="text ad-subtitle"/>
          <p:cNvSpPr/>
          <p:nvPr/>
        </p:nvSpPr>
        <p:spPr>
          <a:xfrm>
            <a:off x="477042" y="620146"/>
            <a:ext cx="11476086" cy="14319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5C7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scattered sources into a persistent markdown wiki that the agent keeps updated, searchable, and explainable over time.</a:t>
            </a:r>
            <a:endParaRPr lang="en-US" sz="835" dirty="0"/>
          </a:p>
        </p:txBody>
      </p:sp>
      <p:sp>
        <p:nvSpPr>
          <p:cNvPr id="5" name="rect ad-note-box"/>
          <p:cNvSpPr/>
          <p:nvPr/>
        </p:nvSpPr>
        <p:spPr>
          <a:xfrm>
            <a:off x="7460772" y="318028"/>
            <a:ext cx="4200845" cy="781903"/>
          </a:xfrm>
          <a:prstGeom prst="roundRect">
            <a:avLst>
              <a:gd name="adj" fmla="val 9356"/>
            </a:avLst>
          </a:prstGeom>
          <a:solidFill>
            <a:srgbClr val="195783"/>
          </a:solidFill>
          <a:ln/>
        </p:spPr>
      </p:sp>
      <p:sp>
        <p:nvSpPr>
          <p:cNvPr id="6" name="text ad-note-title"/>
          <p:cNvSpPr/>
          <p:nvPr/>
        </p:nvSpPr>
        <p:spPr>
          <a:xfrm>
            <a:off x="7580010" y="463784"/>
            <a:ext cx="3962370" cy="1789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3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Message</a:t>
            </a:r>
            <a:endParaRPr lang="en-US" sz="1043" dirty="0"/>
          </a:p>
        </p:txBody>
      </p:sp>
      <p:sp>
        <p:nvSpPr>
          <p:cNvPr id="7" name="text ad-note-body"/>
          <p:cNvSpPr/>
          <p:nvPr/>
        </p:nvSpPr>
        <p:spPr>
          <a:xfrm>
            <a:off x="7580010" y="685160"/>
            <a:ext cx="3962370" cy="23847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DEF0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pattern does not re-discover truth from raw files on every question.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DEF0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compiles knowledge once into a maintained wiki, then keeps enriching it.</a:t>
            </a:r>
            <a:endParaRPr lang="en-US" sz="730" dirty="0"/>
          </a:p>
        </p:txBody>
      </p:sp>
      <p:sp>
        <p:nvSpPr>
          <p:cNvPr id="8" name="rect stage-box"/>
          <p:cNvSpPr/>
          <p:nvPr/>
        </p:nvSpPr>
        <p:spPr>
          <a:xfrm>
            <a:off x="344546" y="1245687"/>
            <a:ext cx="11502603" cy="5274259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9" name="text ad-group-title"/>
          <p:cNvSpPr/>
          <p:nvPr/>
        </p:nvSpPr>
        <p:spPr>
          <a:xfrm>
            <a:off x="556595" y="1340419"/>
            <a:ext cx="11396533" cy="1163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8" b="1" spc="54" kern="0" dirty="0">
                <a:solidFill>
                  <a:srgbClr val="45627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 STRUCTURE</a:t>
            </a:r>
            <a:endParaRPr lang="en-US" sz="678" dirty="0"/>
          </a:p>
        </p:txBody>
      </p:sp>
      <p:sp>
        <p:nvSpPr>
          <p:cNvPr id="10" name="rect raw-sources ad-group-box"/>
          <p:cNvSpPr/>
          <p:nvPr/>
        </p:nvSpPr>
        <p:spPr>
          <a:xfrm>
            <a:off x="503560" y="1563715"/>
            <a:ext cx="2014332" cy="4108125"/>
          </a:xfrm>
          <a:prstGeom prst="roundRect">
            <a:avLst>
              <a:gd name="adj" fmla="val 3632"/>
            </a:avLst>
          </a:prstGeom>
          <a:solidFill>
            <a:srgbClr val="FFFFFF">
              <a:alpha val="62000"/>
            </a:srgbClr>
          </a:solidFill>
          <a:ln w="9271">
            <a:solidFill>
              <a:srgbClr val="D8E2EA"/>
            </a:solidFill>
            <a:prstDash val="solid"/>
          </a:ln>
        </p:spPr>
      </p:sp>
      <p:sp>
        <p:nvSpPr>
          <p:cNvPr id="11" name="text raw-sources ad-group-title"/>
          <p:cNvSpPr/>
          <p:nvPr/>
        </p:nvSpPr>
        <p:spPr>
          <a:xfrm>
            <a:off x="622798" y="1671706"/>
            <a:ext cx="1775765" cy="1163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8" b="1" spc="54" kern="0" dirty="0">
                <a:solidFill>
                  <a:srgbClr val="45627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SOURCES</a:t>
            </a:r>
            <a:endParaRPr lang="en-US" sz="678" dirty="0"/>
          </a:p>
        </p:txBody>
      </p:sp>
      <p:sp>
        <p:nvSpPr>
          <p:cNvPr id="12" name="rect wiki-core ad-group-box"/>
          <p:cNvSpPr/>
          <p:nvPr/>
        </p:nvSpPr>
        <p:spPr>
          <a:xfrm>
            <a:off x="2941899" y="1563715"/>
            <a:ext cx="5406756" cy="4108125"/>
          </a:xfrm>
          <a:prstGeom prst="roundRect">
            <a:avLst>
              <a:gd name="adj" fmla="val 1781"/>
            </a:avLst>
          </a:prstGeom>
          <a:solidFill>
            <a:srgbClr val="FFFFFF">
              <a:alpha val="62000"/>
            </a:srgbClr>
          </a:solidFill>
          <a:ln w="9271">
            <a:solidFill>
              <a:srgbClr val="D8E2EA"/>
            </a:solidFill>
            <a:prstDash val="solid"/>
          </a:ln>
        </p:spPr>
      </p:sp>
      <p:sp>
        <p:nvSpPr>
          <p:cNvPr id="13" name="text wiki-core ad-group-title"/>
          <p:cNvSpPr/>
          <p:nvPr/>
        </p:nvSpPr>
        <p:spPr>
          <a:xfrm>
            <a:off x="3061137" y="1671706"/>
            <a:ext cx="5168280" cy="1163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8" b="1" spc="54" kern="0" dirty="0">
                <a:solidFill>
                  <a:srgbClr val="45627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COMPILED WIKI CORE</a:t>
            </a:r>
            <a:endParaRPr lang="en-US" sz="678" dirty="0"/>
          </a:p>
        </p:txBody>
      </p:sp>
      <p:sp>
        <p:nvSpPr>
          <p:cNvPr id="14" name="rect usage-loop ad-group-box"/>
          <p:cNvSpPr/>
          <p:nvPr/>
        </p:nvSpPr>
        <p:spPr>
          <a:xfrm>
            <a:off x="8772754" y="1563715"/>
            <a:ext cx="2915382" cy="4108125"/>
          </a:xfrm>
          <a:prstGeom prst="roundRect">
            <a:avLst>
              <a:gd name="adj" fmla="val 2509"/>
            </a:avLst>
          </a:prstGeom>
          <a:solidFill>
            <a:srgbClr val="FFFFFF">
              <a:alpha val="62000"/>
            </a:srgbClr>
          </a:solidFill>
          <a:ln w="9271">
            <a:solidFill>
              <a:srgbClr val="D8E2EA"/>
            </a:solidFill>
            <a:prstDash val="solid"/>
          </a:ln>
        </p:spPr>
      </p:sp>
      <p:sp>
        <p:nvSpPr>
          <p:cNvPr id="15" name="text usage-loop ad-group-title"/>
          <p:cNvSpPr/>
          <p:nvPr/>
        </p:nvSpPr>
        <p:spPr>
          <a:xfrm>
            <a:off x="8891991" y="1671706"/>
            <a:ext cx="2676906" cy="1163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8" b="1" spc="54" kern="0" dirty="0">
                <a:solidFill>
                  <a:srgbClr val="45627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LOOP AND TOOLS</a:t>
            </a:r>
            <a:endParaRPr lang="en-US" sz="678" dirty="0"/>
          </a:p>
        </p:txBody>
      </p:sp>
      <p:sp>
        <p:nvSpPr>
          <p:cNvPr id="16" name="rect raw-articles raw-sources ad-node-box"/>
          <p:cNvSpPr/>
          <p:nvPr/>
        </p:nvSpPr>
        <p:spPr>
          <a:xfrm>
            <a:off x="689092" y="2133570"/>
            <a:ext cx="1643268" cy="689092"/>
          </a:xfrm>
          <a:prstGeom prst="roundRect">
            <a:avLst>
              <a:gd name="adj" fmla="val 10616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17" name="rect raw-articles raw-sources raw-top"/>
          <p:cNvSpPr/>
          <p:nvPr/>
        </p:nvSpPr>
        <p:spPr>
          <a:xfrm>
            <a:off x="689092" y="2133570"/>
            <a:ext cx="1643268" cy="92720"/>
          </a:xfrm>
          <a:prstGeom prst="roundRect">
            <a:avLst>
              <a:gd name="adj" fmla="val 78896"/>
            </a:avLst>
          </a:prstGeom>
          <a:solidFill>
            <a:srgbClr val="DBEAFE"/>
          </a:solidFill>
          <a:ln/>
        </p:spPr>
      </p:sp>
      <p:sp>
        <p:nvSpPr>
          <p:cNvPr id="18" name="text raw-articles raw-sources ad-node-title"/>
          <p:cNvSpPr/>
          <p:nvPr/>
        </p:nvSpPr>
        <p:spPr>
          <a:xfrm>
            <a:off x="834847" y="2298527"/>
            <a:ext cx="1351666" cy="1699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Articles and Papers</a:t>
            </a:r>
            <a:endParaRPr lang="en-US" sz="991" dirty="0"/>
          </a:p>
        </p:txBody>
      </p:sp>
      <p:sp>
        <p:nvSpPr>
          <p:cNvPr id="19" name="text raw-articles raw-sources ad-node-body"/>
          <p:cNvSpPr/>
          <p:nvPr/>
        </p:nvSpPr>
        <p:spPr>
          <a:xfrm>
            <a:off x="834847" y="2499970"/>
            <a:ext cx="1351666" cy="23856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clips, reports,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 from reading</a:t>
            </a:r>
            <a:endParaRPr lang="en-US" sz="678" dirty="0"/>
          </a:p>
        </p:txBody>
      </p:sp>
      <p:sp>
        <p:nvSpPr>
          <p:cNvPr id="20" name="rect raw-transcripts raw-sources ad-node-box"/>
          <p:cNvSpPr/>
          <p:nvPr/>
        </p:nvSpPr>
        <p:spPr>
          <a:xfrm>
            <a:off x="689092" y="3008193"/>
            <a:ext cx="1643268" cy="728868"/>
          </a:xfrm>
          <a:prstGeom prst="roundRect">
            <a:avLst>
              <a:gd name="adj" fmla="val 10036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21" name="rect raw-transcripts raw-sources raw-top"/>
          <p:cNvSpPr/>
          <p:nvPr/>
        </p:nvSpPr>
        <p:spPr>
          <a:xfrm>
            <a:off x="689092" y="3008193"/>
            <a:ext cx="1643268" cy="92720"/>
          </a:xfrm>
          <a:prstGeom prst="roundRect">
            <a:avLst>
              <a:gd name="adj" fmla="val 78896"/>
            </a:avLst>
          </a:prstGeom>
          <a:solidFill>
            <a:srgbClr val="DBEAFE"/>
          </a:solidFill>
          <a:ln/>
        </p:spPr>
      </p:sp>
      <p:sp>
        <p:nvSpPr>
          <p:cNvPr id="22" name="text raw-transcripts raw-sources ad-node-title"/>
          <p:cNvSpPr/>
          <p:nvPr/>
        </p:nvSpPr>
        <p:spPr>
          <a:xfrm>
            <a:off x="834847" y="3145353"/>
            <a:ext cx="1351666" cy="23847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 and</a:t>
            </a:r>
            <a:endParaRPr lang="en-US" sz="887" dirty="0"/>
          </a:p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Transcripts</a:t>
            </a:r>
            <a:endParaRPr lang="en-US" sz="887" dirty="0"/>
          </a:p>
        </p:txBody>
      </p:sp>
      <p:sp>
        <p:nvSpPr>
          <p:cNvPr id="23" name="text raw-transcripts raw-sources ad-node-body"/>
          <p:cNvSpPr/>
          <p:nvPr/>
        </p:nvSpPr>
        <p:spPr>
          <a:xfrm>
            <a:off x="834847" y="3374593"/>
            <a:ext cx="1351666" cy="23856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meetings, calls,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journals, project docs</a:t>
            </a:r>
            <a:endParaRPr lang="en-US" sz="678" dirty="0"/>
          </a:p>
        </p:txBody>
      </p:sp>
      <p:sp>
        <p:nvSpPr>
          <p:cNvPr id="24" name="rect raw-assets raw-sources ad-node-box"/>
          <p:cNvSpPr/>
          <p:nvPr/>
        </p:nvSpPr>
        <p:spPr>
          <a:xfrm>
            <a:off x="689092" y="3882817"/>
            <a:ext cx="1643268" cy="728868"/>
          </a:xfrm>
          <a:prstGeom prst="roundRect">
            <a:avLst>
              <a:gd name="adj" fmla="val 10036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25" name="rect raw-assets raw-sources raw-top"/>
          <p:cNvSpPr/>
          <p:nvPr/>
        </p:nvSpPr>
        <p:spPr>
          <a:xfrm>
            <a:off x="689092" y="3882817"/>
            <a:ext cx="1643268" cy="92720"/>
          </a:xfrm>
          <a:prstGeom prst="roundRect">
            <a:avLst>
              <a:gd name="adj" fmla="val 78896"/>
            </a:avLst>
          </a:prstGeom>
          <a:solidFill>
            <a:srgbClr val="DBEAFE"/>
          </a:solidFill>
          <a:ln/>
        </p:spPr>
      </p:sp>
      <p:sp>
        <p:nvSpPr>
          <p:cNvPr id="26" name="text raw-assets raw-sources ad-node-title"/>
          <p:cNvSpPr/>
          <p:nvPr/>
        </p:nvSpPr>
        <p:spPr>
          <a:xfrm>
            <a:off x="834847" y="4019977"/>
            <a:ext cx="1351666" cy="23847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Images and</a:t>
            </a:r>
            <a:endParaRPr lang="en-US" sz="887" dirty="0"/>
          </a:p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Files</a:t>
            </a:r>
            <a:endParaRPr lang="en-US" sz="887" dirty="0"/>
          </a:p>
        </p:txBody>
      </p:sp>
      <p:sp>
        <p:nvSpPr>
          <p:cNvPr id="27" name="text raw-assets raw-sources ad-node-body"/>
          <p:cNvSpPr/>
          <p:nvPr/>
        </p:nvSpPr>
        <p:spPr>
          <a:xfrm>
            <a:off x="834847" y="4249217"/>
            <a:ext cx="1351666" cy="23856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screenshots, tables,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assets and evidence</a:t>
            </a:r>
            <a:endParaRPr lang="en-US" sz="678" dirty="0"/>
          </a:p>
        </p:txBody>
      </p:sp>
      <p:sp>
        <p:nvSpPr>
          <p:cNvPr id="28" name="rect raw-truth raw-sources ad-note-box"/>
          <p:cNvSpPr/>
          <p:nvPr/>
        </p:nvSpPr>
        <p:spPr>
          <a:xfrm>
            <a:off x="689092" y="4823643"/>
            <a:ext cx="1643268" cy="702351"/>
          </a:xfrm>
          <a:prstGeom prst="roundRect">
            <a:avLst>
              <a:gd name="adj" fmla="val 10415"/>
            </a:avLst>
          </a:prstGeom>
          <a:solidFill>
            <a:srgbClr val="264B68"/>
          </a:solidFill>
          <a:ln/>
        </p:spPr>
      </p:sp>
      <p:sp>
        <p:nvSpPr>
          <p:cNvPr id="29" name="text raw-truth raw-sources ad-note-title"/>
          <p:cNvSpPr/>
          <p:nvPr/>
        </p:nvSpPr>
        <p:spPr>
          <a:xfrm>
            <a:off x="834847" y="4956231"/>
            <a:ext cx="1351666" cy="1788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3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Raw Matters</a:t>
            </a:r>
            <a:endParaRPr lang="en-US" sz="1043" dirty="0"/>
          </a:p>
        </p:txBody>
      </p:sp>
      <p:sp>
        <p:nvSpPr>
          <p:cNvPr id="30" name="text raw-truth raw-sources ad-note-body"/>
          <p:cNvSpPr/>
          <p:nvPr/>
        </p:nvSpPr>
        <p:spPr>
          <a:xfrm>
            <a:off x="834847" y="5164257"/>
            <a:ext cx="1351666" cy="35780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DEF0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Immutable source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DEF0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truth. The agent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DEF0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it but never edits it.</a:t>
            </a:r>
            <a:endParaRPr lang="en-US" sz="730" dirty="0"/>
          </a:p>
        </p:txBody>
      </p:sp>
      <p:sp>
        <p:nvSpPr>
          <p:cNvPr id="31" name="rect schema wiki-core ad-node-box"/>
          <p:cNvSpPr/>
          <p:nvPr/>
        </p:nvSpPr>
        <p:spPr>
          <a:xfrm>
            <a:off x="4426153" y="1895003"/>
            <a:ext cx="2438339" cy="715609"/>
          </a:xfrm>
          <a:prstGeom prst="roundRect">
            <a:avLst>
              <a:gd name="adj" fmla="val 10222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32" name="rect schema wiki-core schema-top"/>
          <p:cNvSpPr/>
          <p:nvPr/>
        </p:nvSpPr>
        <p:spPr>
          <a:xfrm>
            <a:off x="4426153" y="1895003"/>
            <a:ext cx="2438339" cy="92812"/>
          </a:xfrm>
          <a:prstGeom prst="roundRect">
            <a:avLst>
              <a:gd name="adj" fmla="val 78817"/>
            </a:avLst>
          </a:prstGeom>
          <a:solidFill>
            <a:srgbClr val="D1FAE5"/>
          </a:solidFill>
          <a:ln/>
        </p:spPr>
      </p:sp>
      <p:sp>
        <p:nvSpPr>
          <p:cNvPr id="33" name="text schema wiki-core ad-node-title"/>
          <p:cNvSpPr/>
          <p:nvPr/>
        </p:nvSpPr>
        <p:spPr>
          <a:xfrm>
            <a:off x="4585167" y="2073219"/>
            <a:ext cx="2120311" cy="1699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File</a:t>
            </a:r>
            <a:endParaRPr lang="en-US" sz="991" dirty="0"/>
          </a:p>
        </p:txBody>
      </p:sp>
      <p:sp>
        <p:nvSpPr>
          <p:cNvPr id="34" name="text schema wiki-core ad-node-body"/>
          <p:cNvSpPr/>
          <p:nvPr/>
        </p:nvSpPr>
        <p:spPr>
          <a:xfrm>
            <a:off x="4585167" y="2268078"/>
            <a:ext cx="2120311" cy="35780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CLAUDE.md / AGENTS.md sets naming,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types, ingest steps,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maintenance discipline.</a:t>
            </a:r>
            <a:endParaRPr lang="en-US" sz="678" dirty="0"/>
          </a:p>
        </p:txBody>
      </p:sp>
      <p:sp>
        <p:nvSpPr>
          <p:cNvPr id="35" name="rect wiki-shell ad-group-box"/>
          <p:cNvSpPr/>
          <p:nvPr/>
        </p:nvSpPr>
        <p:spPr>
          <a:xfrm>
            <a:off x="3193725" y="2703424"/>
            <a:ext cx="4903196" cy="2186513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36" name="rect wiki-shell wiki-top"/>
          <p:cNvSpPr/>
          <p:nvPr/>
        </p:nvSpPr>
        <p:spPr>
          <a:xfrm>
            <a:off x="3193725" y="2703424"/>
            <a:ext cx="4903196" cy="105979"/>
          </a:xfrm>
          <a:prstGeom prst="roundRect">
            <a:avLst>
              <a:gd name="adj" fmla="val 69025"/>
            </a:avLst>
          </a:prstGeom>
          <a:solidFill>
            <a:srgbClr val="CCFBF1"/>
          </a:solidFill>
          <a:ln/>
        </p:spPr>
      </p:sp>
      <p:sp>
        <p:nvSpPr>
          <p:cNvPr id="37" name="text wiki-shell ad-node-title"/>
          <p:cNvSpPr/>
          <p:nvPr/>
        </p:nvSpPr>
        <p:spPr>
          <a:xfrm>
            <a:off x="3312963" y="2855123"/>
            <a:ext cx="4664629" cy="1699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wiki/ - Persistent, LLM-Maintained Markdown Layer</a:t>
            </a:r>
            <a:endParaRPr lang="en-US" sz="991" dirty="0"/>
          </a:p>
        </p:txBody>
      </p:sp>
      <p:sp>
        <p:nvSpPr>
          <p:cNvPr id="38" name="text wiki-shell ad-node-body"/>
          <p:cNvSpPr/>
          <p:nvPr/>
        </p:nvSpPr>
        <p:spPr>
          <a:xfrm>
            <a:off x="3312963" y="3063149"/>
            <a:ext cx="4664629" cy="23856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agent owns this layer: it writes pages, revises synthesis, maintains links,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flags contradictions, and keeps the knowledge base current.</a:t>
            </a:r>
            <a:endParaRPr lang="en-US" sz="678" dirty="0"/>
          </a:p>
        </p:txBody>
      </p:sp>
      <p:sp>
        <p:nvSpPr>
          <p:cNvPr id="39" name="rect overview wiki-shell ad-node-box"/>
          <p:cNvSpPr/>
          <p:nvPr/>
        </p:nvSpPr>
        <p:spPr>
          <a:xfrm>
            <a:off x="3405683" y="3273186"/>
            <a:ext cx="1298722" cy="583113"/>
          </a:xfrm>
          <a:prstGeom prst="roundRect">
            <a:avLst>
              <a:gd name="adj" fmla="val 1254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40" name="rect overview wiki-shell wiki-top"/>
          <p:cNvSpPr/>
          <p:nvPr/>
        </p:nvSpPr>
        <p:spPr>
          <a:xfrm>
            <a:off x="3405683" y="3273186"/>
            <a:ext cx="1298722" cy="79553"/>
          </a:xfrm>
          <a:prstGeom prst="roundRect">
            <a:avLst>
              <a:gd name="adj" fmla="val 91954"/>
            </a:avLst>
          </a:prstGeom>
          <a:solidFill>
            <a:srgbClr val="CCFBF1"/>
          </a:solidFill>
          <a:ln/>
        </p:spPr>
      </p:sp>
      <p:sp>
        <p:nvSpPr>
          <p:cNvPr id="41" name="text overview wiki-shell ad-node-title"/>
          <p:cNvSpPr/>
          <p:nvPr/>
        </p:nvSpPr>
        <p:spPr>
          <a:xfrm>
            <a:off x="3525012" y="3403122"/>
            <a:ext cx="1060155" cy="143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5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</a:t>
            </a:r>
            <a:endParaRPr lang="en-US" sz="835" dirty="0"/>
          </a:p>
        </p:txBody>
      </p:sp>
      <p:sp>
        <p:nvSpPr>
          <p:cNvPr id="42" name="text overview wiki-shell ad-node-body"/>
          <p:cNvSpPr/>
          <p:nvPr/>
        </p:nvSpPr>
        <p:spPr>
          <a:xfrm>
            <a:off x="3525012" y="3579327"/>
            <a:ext cx="1060155" cy="2253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top-level thesis</a:t>
            </a:r>
            <a:endParaRPr lang="en-US" sz="626" dirty="0"/>
          </a:p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synthesis</a:t>
            </a:r>
            <a:endParaRPr lang="en-US" sz="626" dirty="0"/>
          </a:p>
        </p:txBody>
      </p:sp>
      <p:sp>
        <p:nvSpPr>
          <p:cNvPr id="43" name="rect concepts wiki-shell ad-node-box"/>
          <p:cNvSpPr/>
          <p:nvPr/>
        </p:nvSpPr>
        <p:spPr>
          <a:xfrm>
            <a:off x="4995916" y="3273186"/>
            <a:ext cx="1298722" cy="583113"/>
          </a:xfrm>
          <a:prstGeom prst="roundRect">
            <a:avLst>
              <a:gd name="adj" fmla="val 1254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44" name="rect concepts wiki-shell wiki-top"/>
          <p:cNvSpPr/>
          <p:nvPr/>
        </p:nvSpPr>
        <p:spPr>
          <a:xfrm>
            <a:off x="4995916" y="3273186"/>
            <a:ext cx="1298722" cy="79553"/>
          </a:xfrm>
          <a:prstGeom prst="roundRect">
            <a:avLst>
              <a:gd name="adj" fmla="val 91954"/>
            </a:avLst>
          </a:prstGeom>
          <a:solidFill>
            <a:srgbClr val="CCFBF1"/>
          </a:solidFill>
          <a:ln/>
        </p:spPr>
      </p:sp>
      <p:sp>
        <p:nvSpPr>
          <p:cNvPr id="45" name="text concepts wiki-shell ad-node-title"/>
          <p:cNvSpPr/>
          <p:nvPr/>
        </p:nvSpPr>
        <p:spPr>
          <a:xfrm>
            <a:off x="5115245" y="3403122"/>
            <a:ext cx="1060155" cy="143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5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Concept Pages</a:t>
            </a:r>
            <a:endParaRPr lang="en-US" sz="835" dirty="0"/>
          </a:p>
        </p:txBody>
      </p:sp>
      <p:sp>
        <p:nvSpPr>
          <p:cNvPr id="46" name="text concepts wiki-shell ad-node-body"/>
          <p:cNvSpPr/>
          <p:nvPr/>
        </p:nvSpPr>
        <p:spPr>
          <a:xfrm>
            <a:off x="5115245" y="3579327"/>
            <a:ext cx="1060155" cy="2253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topics, claims,</a:t>
            </a:r>
            <a:endParaRPr lang="en-US" sz="626" dirty="0"/>
          </a:p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explanations</a:t>
            </a:r>
            <a:endParaRPr lang="en-US" sz="626" dirty="0"/>
          </a:p>
        </p:txBody>
      </p:sp>
      <p:sp>
        <p:nvSpPr>
          <p:cNvPr id="47" name="rect entities wiki-shell ad-node-box"/>
          <p:cNvSpPr/>
          <p:nvPr/>
        </p:nvSpPr>
        <p:spPr>
          <a:xfrm>
            <a:off x="6586149" y="3273186"/>
            <a:ext cx="1298722" cy="583113"/>
          </a:xfrm>
          <a:prstGeom prst="roundRect">
            <a:avLst>
              <a:gd name="adj" fmla="val 1254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48" name="rect entities wiki-shell wiki-top"/>
          <p:cNvSpPr/>
          <p:nvPr/>
        </p:nvSpPr>
        <p:spPr>
          <a:xfrm>
            <a:off x="6586149" y="3273186"/>
            <a:ext cx="1298722" cy="79553"/>
          </a:xfrm>
          <a:prstGeom prst="roundRect">
            <a:avLst>
              <a:gd name="adj" fmla="val 91954"/>
            </a:avLst>
          </a:prstGeom>
          <a:solidFill>
            <a:srgbClr val="CCFBF1"/>
          </a:solidFill>
          <a:ln/>
        </p:spPr>
      </p:sp>
      <p:sp>
        <p:nvSpPr>
          <p:cNvPr id="49" name="text entities wiki-shell ad-node-title"/>
          <p:cNvSpPr/>
          <p:nvPr/>
        </p:nvSpPr>
        <p:spPr>
          <a:xfrm>
            <a:off x="6705478" y="3403122"/>
            <a:ext cx="1060064" cy="143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5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Entity Pages</a:t>
            </a:r>
            <a:endParaRPr lang="en-US" sz="835" dirty="0"/>
          </a:p>
        </p:txBody>
      </p:sp>
      <p:sp>
        <p:nvSpPr>
          <p:cNvPr id="50" name="text entities wiki-shell ad-node-body"/>
          <p:cNvSpPr/>
          <p:nvPr/>
        </p:nvSpPr>
        <p:spPr>
          <a:xfrm>
            <a:off x="6705478" y="3579327"/>
            <a:ext cx="1060064" cy="2253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people, tools,</a:t>
            </a:r>
            <a:endParaRPr lang="en-US" sz="626" dirty="0"/>
          </a:p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systems, projects</a:t>
            </a:r>
            <a:endParaRPr lang="en-US" sz="626" dirty="0"/>
          </a:p>
        </p:txBody>
      </p:sp>
      <p:sp>
        <p:nvSpPr>
          <p:cNvPr id="51" name="rect sources wiki-shell ad-node-box"/>
          <p:cNvSpPr/>
          <p:nvPr/>
        </p:nvSpPr>
        <p:spPr>
          <a:xfrm>
            <a:off x="4200845" y="4068348"/>
            <a:ext cx="1298631" cy="530078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52" name="rect sources wiki-shell wiki-top"/>
          <p:cNvSpPr/>
          <p:nvPr/>
        </p:nvSpPr>
        <p:spPr>
          <a:xfrm>
            <a:off x="4200845" y="4068348"/>
            <a:ext cx="1298631" cy="79461"/>
          </a:xfrm>
          <a:prstGeom prst="roundRect">
            <a:avLst>
              <a:gd name="adj" fmla="val 92060"/>
            </a:avLst>
          </a:prstGeom>
          <a:solidFill>
            <a:srgbClr val="CCFBF1"/>
          </a:solidFill>
          <a:ln/>
        </p:spPr>
      </p:sp>
      <p:sp>
        <p:nvSpPr>
          <p:cNvPr id="53" name="text sources wiki-shell ad-node-title"/>
          <p:cNvSpPr/>
          <p:nvPr/>
        </p:nvSpPr>
        <p:spPr>
          <a:xfrm>
            <a:off x="4320083" y="4184934"/>
            <a:ext cx="1060155" cy="143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5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Summaries</a:t>
            </a:r>
            <a:endParaRPr lang="en-US" sz="835" dirty="0"/>
          </a:p>
        </p:txBody>
      </p:sp>
      <p:sp>
        <p:nvSpPr>
          <p:cNvPr id="54" name="text sources wiki-shell ad-node-body"/>
          <p:cNvSpPr/>
          <p:nvPr/>
        </p:nvSpPr>
        <p:spPr>
          <a:xfrm>
            <a:off x="4320083" y="4347972"/>
            <a:ext cx="1060155" cy="22521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page per source</a:t>
            </a:r>
            <a:endParaRPr lang="en-US" sz="626" dirty="0"/>
          </a:p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traceability</a:t>
            </a:r>
            <a:endParaRPr lang="en-US" sz="626" dirty="0"/>
          </a:p>
        </p:txBody>
      </p:sp>
      <p:sp>
        <p:nvSpPr>
          <p:cNvPr id="55" name="rect comparisons wiki-shell ad-node-box"/>
          <p:cNvSpPr/>
          <p:nvPr/>
        </p:nvSpPr>
        <p:spPr>
          <a:xfrm>
            <a:off x="5791078" y="4068348"/>
            <a:ext cx="1298631" cy="530078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56" name="rect comparisons wiki-shell wiki-top"/>
          <p:cNvSpPr/>
          <p:nvPr/>
        </p:nvSpPr>
        <p:spPr>
          <a:xfrm>
            <a:off x="5791078" y="4068348"/>
            <a:ext cx="1298631" cy="79461"/>
          </a:xfrm>
          <a:prstGeom prst="roundRect">
            <a:avLst>
              <a:gd name="adj" fmla="val 92060"/>
            </a:avLst>
          </a:prstGeom>
          <a:solidFill>
            <a:srgbClr val="CCFBF1"/>
          </a:solidFill>
          <a:ln/>
        </p:spPr>
      </p:sp>
      <p:sp>
        <p:nvSpPr>
          <p:cNvPr id="57" name="text comparisons wiki-shell ad-node-title"/>
          <p:cNvSpPr/>
          <p:nvPr/>
        </p:nvSpPr>
        <p:spPr>
          <a:xfrm>
            <a:off x="5910316" y="4184934"/>
            <a:ext cx="1060155" cy="143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5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Comparisons</a:t>
            </a:r>
            <a:endParaRPr lang="en-US" sz="835" dirty="0"/>
          </a:p>
        </p:txBody>
      </p:sp>
      <p:sp>
        <p:nvSpPr>
          <p:cNvPr id="58" name="text comparisons wiki-shell ad-node-body"/>
          <p:cNvSpPr/>
          <p:nvPr/>
        </p:nvSpPr>
        <p:spPr>
          <a:xfrm>
            <a:off x="5910316" y="4347972"/>
            <a:ext cx="1060155" cy="22521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trade-offs, diffs,</a:t>
            </a:r>
            <a:endParaRPr lang="en-US" sz="626" dirty="0"/>
          </a:p>
          <a:p>
            <a:pPr algn="ctr" indent="0" marL="0">
              <a:buNone/>
            </a:pPr>
            <a:r>
              <a:rPr lang="en-US" sz="626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views</a:t>
            </a:r>
            <a:endParaRPr lang="en-US" sz="626" dirty="0"/>
          </a:p>
        </p:txBody>
      </p:sp>
      <p:sp>
        <p:nvSpPr>
          <p:cNvPr id="59" name="rect stage-box"/>
          <p:cNvSpPr/>
          <p:nvPr/>
        </p:nvSpPr>
        <p:spPr>
          <a:xfrm>
            <a:off x="3577956" y="4664629"/>
            <a:ext cx="1457736" cy="185532"/>
          </a:xfrm>
          <a:prstGeom prst="roundRect">
            <a:avLst>
              <a:gd name="adj" fmla="val 39428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60" name="rect index-top"/>
          <p:cNvSpPr/>
          <p:nvPr/>
        </p:nvSpPr>
        <p:spPr>
          <a:xfrm>
            <a:off x="3577956" y="4664629"/>
            <a:ext cx="1457736" cy="53035"/>
          </a:xfrm>
          <a:prstGeom prst="roundRect">
            <a:avLst>
              <a:gd name="adj" fmla="val 137932"/>
            </a:avLst>
          </a:prstGeom>
          <a:solidFill>
            <a:srgbClr val="FEF3C7"/>
          </a:solidFill>
          <a:ln/>
        </p:spPr>
      </p:sp>
      <p:sp>
        <p:nvSpPr>
          <p:cNvPr id="61" name="text ad-node-body"/>
          <p:cNvSpPr/>
          <p:nvPr/>
        </p:nvSpPr>
        <p:spPr>
          <a:xfrm>
            <a:off x="3697285" y="4724979"/>
            <a:ext cx="1219170" cy="1855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index.md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catalog for navigation</a:t>
            </a:r>
            <a:endParaRPr lang="en-US" sz="600" dirty="0"/>
          </a:p>
        </p:txBody>
      </p:sp>
      <p:sp>
        <p:nvSpPr>
          <p:cNvPr id="62" name="rect stage-box"/>
          <p:cNvSpPr/>
          <p:nvPr/>
        </p:nvSpPr>
        <p:spPr>
          <a:xfrm>
            <a:off x="6254862" y="4664629"/>
            <a:ext cx="1457736" cy="185532"/>
          </a:xfrm>
          <a:prstGeom prst="roundRect">
            <a:avLst>
              <a:gd name="adj" fmla="val 39428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63" name="rect index-top"/>
          <p:cNvSpPr/>
          <p:nvPr/>
        </p:nvSpPr>
        <p:spPr>
          <a:xfrm>
            <a:off x="6254862" y="4664629"/>
            <a:ext cx="1457736" cy="53035"/>
          </a:xfrm>
          <a:prstGeom prst="roundRect">
            <a:avLst>
              <a:gd name="adj" fmla="val 137932"/>
            </a:avLst>
          </a:prstGeom>
          <a:solidFill>
            <a:srgbClr val="FEF3C7"/>
          </a:solidFill>
          <a:ln/>
        </p:spPr>
      </p:sp>
      <p:sp>
        <p:nvSpPr>
          <p:cNvPr id="64" name="text ad-node-body"/>
          <p:cNvSpPr/>
          <p:nvPr/>
        </p:nvSpPr>
        <p:spPr>
          <a:xfrm>
            <a:off x="6374100" y="4724979"/>
            <a:ext cx="1219170" cy="1855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log.md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append-only operation timeline</a:t>
            </a:r>
            <a:endParaRPr lang="en-US" sz="600" dirty="0"/>
          </a:p>
        </p:txBody>
      </p:sp>
      <p:sp>
        <p:nvSpPr>
          <p:cNvPr id="65" name="rect human-agent usage-loop ad-node-box"/>
          <p:cNvSpPr/>
          <p:nvPr/>
        </p:nvSpPr>
        <p:spPr>
          <a:xfrm>
            <a:off x="9011229" y="2120311"/>
            <a:ext cx="2438339" cy="715609"/>
          </a:xfrm>
          <a:prstGeom prst="roundRect">
            <a:avLst>
              <a:gd name="adj" fmla="val 10222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66" name="rect human-agent usage-loop human-top"/>
          <p:cNvSpPr/>
          <p:nvPr/>
        </p:nvSpPr>
        <p:spPr>
          <a:xfrm>
            <a:off x="9011229" y="2120311"/>
            <a:ext cx="2438339" cy="92720"/>
          </a:xfrm>
          <a:prstGeom prst="roundRect">
            <a:avLst>
              <a:gd name="adj" fmla="val 78896"/>
            </a:avLst>
          </a:prstGeom>
          <a:solidFill>
            <a:srgbClr val="EDE9FE"/>
          </a:solidFill>
          <a:ln/>
        </p:spPr>
      </p:sp>
      <p:sp>
        <p:nvSpPr>
          <p:cNvPr id="67" name="text human-agent usage-loop ad-node-title"/>
          <p:cNvSpPr/>
          <p:nvPr/>
        </p:nvSpPr>
        <p:spPr>
          <a:xfrm>
            <a:off x="9143817" y="2258751"/>
            <a:ext cx="2173254" cy="1699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+ LLM Pair</a:t>
            </a:r>
            <a:endParaRPr lang="en-US" sz="991" dirty="0"/>
          </a:p>
        </p:txBody>
      </p:sp>
      <p:sp>
        <p:nvSpPr>
          <p:cNvPr id="68" name="text human-agent usage-loop ad-node-body"/>
          <p:cNvSpPr/>
          <p:nvPr/>
        </p:nvSpPr>
        <p:spPr>
          <a:xfrm>
            <a:off x="9143817" y="2453610"/>
            <a:ext cx="2173254" cy="35780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curates sources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asks questions.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agent does bookkeeping.</a:t>
            </a:r>
            <a:endParaRPr lang="en-US" sz="678" dirty="0"/>
          </a:p>
        </p:txBody>
      </p:sp>
      <p:sp>
        <p:nvSpPr>
          <p:cNvPr id="69" name="rect obsidian usage-loop ad-node-box"/>
          <p:cNvSpPr/>
          <p:nvPr/>
        </p:nvSpPr>
        <p:spPr>
          <a:xfrm>
            <a:off x="9011229" y="3061137"/>
            <a:ext cx="2438339" cy="715609"/>
          </a:xfrm>
          <a:prstGeom prst="roundRect">
            <a:avLst>
              <a:gd name="adj" fmla="val 10222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70" name="rect obsidian usage-loop tool-top"/>
          <p:cNvSpPr/>
          <p:nvPr/>
        </p:nvSpPr>
        <p:spPr>
          <a:xfrm>
            <a:off x="9011229" y="3061137"/>
            <a:ext cx="2438339" cy="92812"/>
          </a:xfrm>
          <a:prstGeom prst="roundRect">
            <a:avLst>
              <a:gd name="adj" fmla="val 78817"/>
            </a:avLst>
          </a:prstGeom>
          <a:solidFill>
            <a:srgbClr val="FCE7F3"/>
          </a:solidFill>
          <a:ln/>
        </p:spPr>
      </p:sp>
      <p:sp>
        <p:nvSpPr>
          <p:cNvPr id="71" name="text obsidian usage-loop ad-node-title"/>
          <p:cNvSpPr/>
          <p:nvPr/>
        </p:nvSpPr>
        <p:spPr>
          <a:xfrm>
            <a:off x="9143817" y="3199668"/>
            <a:ext cx="2173254" cy="1699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Obsidian Frontend</a:t>
            </a:r>
            <a:endParaRPr lang="en-US" sz="991" dirty="0"/>
          </a:p>
        </p:txBody>
      </p:sp>
      <p:sp>
        <p:nvSpPr>
          <p:cNvPr id="72" name="text obsidian usage-loop ad-node-body"/>
          <p:cNvSpPr/>
          <p:nvPr/>
        </p:nvSpPr>
        <p:spPr>
          <a:xfrm>
            <a:off x="9143817" y="3394436"/>
            <a:ext cx="2173254" cy="35780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Browse graph view,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backlinks, and pages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like a knowledge IDE.</a:t>
            </a:r>
            <a:endParaRPr lang="en-US" sz="678" dirty="0"/>
          </a:p>
        </p:txBody>
      </p:sp>
      <p:sp>
        <p:nvSpPr>
          <p:cNvPr id="73" name="rect search-cli usage-loop ad-node-box"/>
          <p:cNvSpPr/>
          <p:nvPr/>
        </p:nvSpPr>
        <p:spPr>
          <a:xfrm>
            <a:off x="9011229" y="4002054"/>
            <a:ext cx="2438339" cy="715609"/>
          </a:xfrm>
          <a:prstGeom prst="roundRect">
            <a:avLst>
              <a:gd name="adj" fmla="val 10222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74" name="rect search-cli usage-loop tool-top"/>
          <p:cNvSpPr/>
          <p:nvPr/>
        </p:nvSpPr>
        <p:spPr>
          <a:xfrm>
            <a:off x="9011229" y="4002054"/>
            <a:ext cx="2438339" cy="92812"/>
          </a:xfrm>
          <a:prstGeom prst="roundRect">
            <a:avLst>
              <a:gd name="adj" fmla="val 78817"/>
            </a:avLst>
          </a:prstGeom>
          <a:solidFill>
            <a:srgbClr val="FCE7F3"/>
          </a:solidFill>
          <a:ln/>
        </p:spPr>
      </p:sp>
      <p:sp>
        <p:nvSpPr>
          <p:cNvPr id="75" name="text search-cli usage-loop ad-node-title"/>
          <p:cNvSpPr/>
          <p:nvPr/>
        </p:nvSpPr>
        <p:spPr>
          <a:xfrm>
            <a:off x="9143817" y="4140586"/>
            <a:ext cx="2173254" cy="16989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Optional Search and CLI</a:t>
            </a:r>
            <a:endParaRPr lang="en-US" sz="991" dirty="0"/>
          </a:p>
        </p:txBody>
      </p:sp>
      <p:sp>
        <p:nvSpPr>
          <p:cNvPr id="76" name="text search-cli usage-loop ad-node-body"/>
          <p:cNvSpPr/>
          <p:nvPr/>
        </p:nvSpPr>
        <p:spPr>
          <a:xfrm>
            <a:off x="9143817" y="4335353"/>
            <a:ext cx="2173254" cy="35780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small scale the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index is enough.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qmd helps at larger scale.</a:t>
            </a:r>
            <a:endParaRPr lang="en-US" sz="678" dirty="0"/>
          </a:p>
        </p:txBody>
      </p:sp>
      <p:sp>
        <p:nvSpPr>
          <p:cNvPr id="77" name="rect outputs usage-loop ad-node-box"/>
          <p:cNvSpPr/>
          <p:nvPr/>
        </p:nvSpPr>
        <p:spPr>
          <a:xfrm>
            <a:off x="9011229" y="4850160"/>
            <a:ext cx="2438339" cy="702351"/>
          </a:xfrm>
          <a:prstGeom prst="roundRect">
            <a:avLst>
              <a:gd name="adj" fmla="val 1041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78" name="rect outputs usage-loop tool-top"/>
          <p:cNvSpPr/>
          <p:nvPr/>
        </p:nvSpPr>
        <p:spPr>
          <a:xfrm>
            <a:off x="9011229" y="4850160"/>
            <a:ext cx="2438339" cy="92812"/>
          </a:xfrm>
          <a:prstGeom prst="roundRect">
            <a:avLst>
              <a:gd name="adj" fmla="val 78817"/>
            </a:avLst>
          </a:prstGeom>
          <a:solidFill>
            <a:srgbClr val="FCE7F3"/>
          </a:solidFill>
          <a:ln/>
        </p:spPr>
      </p:sp>
      <p:sp>
        <p:nvSpPr>
          <p:cNvPr id="79" name="text outputs usage-loop ad-node-title"/>
          <p:cNvSpPr/>
          <p:nvPr/>
        </p:nvSpPr>
        <p:spPr>
          <a:xfrm>
            <a:off x="9143817" y="5081412"/>
            <a:ext cx="2173254" cy="1699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91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Outputs That Can Feed Back</a:t>
            </a:r>
            <a:endParaRPr lang="en-US" sz="991" dirty="0"/>
          </a:p>
        </p:txBody>
      </p:sp>
      <p:sp>
        <p:nvSpPr>
          <p:cNvPr id="80" name="text outputs usage-loop ad-node-body"/>
          <p:cNvSpPr/>
          <p:nvPr/>
        </p:nvSpPr>
        <p:spPr>
          <a:xfrm>
            <a:off x="9143817" y="5276271"/>
            <a:ext cx="2173254" cy="3577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answers, comparison tables,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slides, charts, or</a:t>
            </a:r>
            <a:endParaRPr lang="en-US" sz="678" dirty="0"/>
          </a:p>
          <a:p>
            <a:pPr algn="ctr" indent="0" marL="0">
              <a:buNone/>
            </a:pPr>
            <a:r>
              <a:rPr lang="en-US" sz="678" dirty="0">
                <a:solidFill>
                  <a:srgbClr val="4E687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pages from valuable analysis</a:t>
            </a:r>
            <a:endParaRPr lang="en-US" sz="678" dirty="0"/>
          </a:p>
        </p:txBody>
      </p:sp>
      <p:sp>
        <p:nvSpPr>
          <p:cNvPr id="81" name="rect ingest-op ad-node-box"/>
          <p:cNvSpPr/>
          <p:nvPr/>
        </p:nvSpPr>
        <p:spPr>
          <a:xfrm>
            <a:off x="3008193" y="5989869"/>
            <a:ext cx="1722730" cy="357805"/>
          </a:xfrm>
          <a:prstGeom prst="roundRect">
            <a:avLst>
              <a:gd name="adj" fmla="val 2044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82" name="rect ingest-op operation-top"/>
          <p:cNvSpPr/>
          <p:nvPr/>
        </p:nvSpPr>
        <p:spPr>
          <a:xfrm>
            <a:off x="3008193" y="5989869"/>
            <a:ext cx="1722730" cy="79461"/>
          </a:xfrm>
          <a:prstGeom prst="roundRect">
            <a:avLst>
              <a:gd name="adj" fmla="val 92060"/>
            </a:avLst>
          </a:prstGeom>
          <a:solidFill>
            <a:srgbClr val="E0F2FE"/>
          </a:solidFill>
          <a:ln/>
        </p:spPr>
      </p:sp>
      <p:sp>
        <p:nvSpPr>
          <p:cNvPr id="83" name="text ingest-op ad-node-title"/>
          <p:cNvSpPr/>
          <p:nvPr/>
        </p:nvSpPr>
        <p:spPr>
          <a:xfrm>
            <a:off x="3140690" y="6120354"/>
            <a:ext cx="1457736" cy="15206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Ingest</a:t>
            </a:r>
            <a:endParaRPr lang="en-US" sz="887" dirty="0"/>
          </a:p>
        </p:txBody>
      </p:sp>
      <p:sp>
        <p:nvSpPr>
          <p:cNvPr id="84" name="rect query-op ad-node-box"/>
          <p:cNvSpPr/>
          <p:nvPr/>
        </p:nvSpPr>
        <p:spPr>
          <a:xfrm>
            <a:off x="5234483" y="5989869"/>
            <a:ext cx="1722730" cy="357805"/>
          </a:xfrm>
          <a:prstGeom prst="roundRect">
            <a:avLst>
              <a:gd name="adj" fmla="val 2044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85" name="rect query-op operation-top"/>
          <p:cNvSpPr/>
          <p:nvPr/>
        </p:nvSpPr>
        <p:spPr>
          <a:xfrm>
            <a:off x="5234483" y="5989869"/>
            <a:ext cx="1722730" cy="79461"/>
          </a:xfrm>
          <a:prstGeom prst="roundRect">
            <a:avLst>
              <a:gd name="adj" fmla="val 92060"/>
            </a:avLst>
          </a:prstGeom>
          <a:solidFill>
            <a:srgbClr val="E0F2FE"/>
          </a:solidFill>
          <a:ln/>
        </p:spPr>
      </p:sp>
      <p:sp>
        <p:nvSpPr>
          <p:cNvPr id="86" name="text query-op ad-node-title"/>
          <p:cNvSpPr/>
          <p:nvPr/>
        </p:nvSpPr>
        <p:spPr>
          <a:xfrm>
            <a:off x="5366979" y="6120354"/>
            <a:ext cx="1457736" cy="15206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</a:t>
            </a:r>
            <a:endParaRPr lang="en-US" sz="887" dirty="0"/>
          </a:p>
        </p:txBody>
      </p:sp>
      <p:sp>
        <p:nvSpPr>
          <p:cNvPr id="87" name="rect lint-op ad-node-box"/>
          <p:cNvSpPr/>
          <p:nvPr/>
        </p:nvSpPr>
        <p:spPr>
          <a:xfrm>
            <a:off x="7460772" y="5989869"/>
            <a:ext cx="1722730" cy="357805"/>
          </a:xfrm>
          <a:prstGeom prst="roundRect">
            <a:avLst>
              <a:gd name="adj" fmla="val 20445"/>
            </a:avLst>
          </a:prstGeom>
          <a:solidFill>
            <a:srgbClr val="FFFFFF"/>
          </a:solidFill>
          <a:ln w="13208">
            <a:solidFill>
              <a:srgbClr val="CFDAE4"/>
            </a:solidFill>
            <a:prstDash val="solid"/>
          </a:ln>
        </p:spPr>
      </p:sp>
      <p:sp>
        <p:nvSpPr>
          <p:cNvPr id="88" name="rect lint-op operation-top"/>
          <p:cNvSpPr/>
          <p:nvPr/>
        </p:nvSpPr>
        <p:spPr>
          <a:xfrm>
            <a:off x="7460772" y="5989869"/>
            <a:ext cx="1722730" cy="79461"/>
          </a:xfrm>
          <a:prstGeom prst="roundRect">
            <a:avLst>
              <a:gd name="adj" fmla="val 92060"/>
            </a:avLst>
          </a:prstGeom>
          <a:solidFill>
            <a:srgbClr val="E0F2FE"/>
          </a:solidFill>
          <a:ln/>
        </p:spPr>
      </p:sp>
      <p:sp>
        <p:nvSpPr>
          <p:cNvPr id="89" name="text lint-op ad-node-title"/>
          <p:cNvSpPr/>
          <p:nvPr/>
        </p:nvSpPr>
        <p:spPr>
          <a:xfrm>
            <a:off x="7593269" y="6120354"/>
            <a:ext cx="1457736" cy="15206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7" b="1" dirty="0">
                <a:solidFill>
                  <a:srgbClr val="1734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</a:t>
            </a:r>
            <a:endParaRPr lang="en-US" sz="887" dirty="0"/>
          </a:p>
        </p:txBody>
      </p:sp>
      <p:sp>
        <p:nvSpPr>
          <p:cNvPr id="90" name="path ad-edge"/>
          <p:cNvSpPr/>
          <p:nvPr/>
        </p:nvSpPr>
        <p:spPr>
          <a:xfrm>
            <a:off x="2332360" y="5154473"/>
            <a:ext cx="410748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1" name="path ad-edge"/>
          <p:cNvSpPr/>
          <p:nvPr/>
        </p:nvSpPr>
        <p:spPr>
          <a:xfrm>
            <a:off x="2742651" y="5154930"/>
            <a:ext cx="914" cy="1013795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2" name="path ad-edge"/>
          <p:cNvSpPr/>
          <p:nvPr/>
        </p:nvSpPr>
        <p:spPr>
          <a:xfrm>
            <a:off x="2743109" y="6168268"/>
            <a:ext cx="265085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93" name="path ad-edge"/>
          <p:cNvSpPr/>
          <p:nvPr/>
        </p:nvSpPr>
        <p:spPr>
          <a:xfrm>
            <a:off x="5644866" y="2610612"/>
            <a:ext cx="914" cy="39776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4" name="path ad-edge"/>
          <p:cNvSpPr/>
          <p:nvPr/>
        </p:nvSpPr>
        <p:spPr>
          <a:xfrm flipH="1">
            <a:off x="2743109" y="2649931"/>
            <a:ext cx="2902214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5" name="path ad-edge"/>
          <p:cNvSpPr/>
          <p:nvPr/>
        </p:nvSpPr>
        <p:spPr>
          <a:xfrm>
            <a:off x="2742651" y="2650388"/>
            <a:ext cx="914" cy="3518337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6" name="path ad-edge"/>
          <p:cNvSpPr/>
          <p:nvPr/>
        </p:nvSpPr>
        <p:spPr>
          <a:xfrm>
            <a:off x="2743109" y="6168268"/>
            <a:ext cx="265085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97" name="path ad-edge"/>
          <p:cNvSpPr/>
          <p:nvPr/>
        </p:nvSpPr>
        <p:spPr>
          <a:xfrm>
            <a:off x="5644866" y="2610612"/>
            <a:ext cx="914" cy="39776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8" name="path ad-edge"/>
          <p:cNvSpPr/>
          <p:nvPr/>
        </p:nvSpPr>
        <p:spPr>
          <a:xfrm>
            <a:off x="5645323" y="2649931"/>
            <a:ext cx="2623871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99" name="path ad-edge"/>
          <p:cNvSpPr/>
          <p:nvPr/>
        </p:nvSpPr>
        <p:spPr>
          <a:xfrm>
            <a:off x="8268736" y="2650388"/>
            <a:ext cx="914" cy="3140690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0" name="path ad-edge"/>
          <p:cNvSpPr/>
          <p:nvPr/>
        </p:nvSpPr>
        <p:spPr>
          <a:xfrm flipH="1">
            <a:off x="6095848" y="5790621"/>
            <a:ext cx="2173346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1" name="path ad-edge"/>
          <p:cNvSpPr/>
          <p:nvPr/>
        </p:nvSpPr>
        <p:spPr>
          <a:xfrm>
            <a:off x="6095390" y="5791078"/>
            <a:ext cx="914" cy="198791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02" name="path ad-edge"/>
          <p:cNvSpPr/>
          <p:nvPr/>
        </p:nvSpPr>
        <p:spPr>
          <a:xfrm>
            <a:off x="5644866" y="2610612"/>
            <a:ext cx="914" cy="39776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3" name="path ad-edge"/>
          <p:cNvSpPr/>
          <p:nvPr/>
        </p:nvSpPr>
        <p:spPr>
          <a:xfrm>
            <a:off x="5645323" y="2649931"/>
            <a:ext cx="2915382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4" name="path ad-edge"/>
          <p:cNvSpPr/>
          <p:nvPr/>
        </p:nvSpPr>
        <p:spPr>
          <a:xfrm>
            <a:off x="8560247" y="2650388"/>
            <a:ext cx="914" cy="3140690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5" name="path ad-edge"/>
          <p:cNvSpPr/>
          <p:nvPr/>
        </p:nvSpPr>
        <p:spPr>
          <a:xfrm flipH="1">
            <a:off x="8322137" y="5790621"/>
            <a:ext cx="238567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6" name="path ad-edge"/>
          <p:cNvSpPr/>
          <p:nvPr/>
        </p:nvSpPr>
        <p:spPr>
          <a:xfrm>
            <a:off x="8321680" y="5791078"/>
            <a:ext cx="914" cy="198791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07" name="path ad-edge"/>
          <p:cNvSpPr/>
          <p:nvPr/>
        </p:nvSpPr>
        <p:spPr>
          <a:xfrm flipV="1">
            <a:off x="3869101" y="4956231"/>
            <a:ext cx="914" cy="1033638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8" name="path ad-edge"/>
          <p:cNvSpPr/>
          <p:nvPr/>
        </p:nvSpPr>
        <p:spPr>
          <a:xfrm>
            <a:off x="3869558" y="4955774"/>
            <a:ext cx="437266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09" name="path ad-edge"/>
          <p:cNvSpPr/>
          <p:nvPr/>
        </p:nvSpPr>
        <p:spPr>
          <a:xfrm flipV="1">
            <a:off x="4306367" y="4889937"/>
            <a:ext cx="914" cy="6629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10" name="text ad-edge-label"/>
          <p:cNvSpPr/>
          <p:nvPr/>
        </p:nvSpPr>
        <p:spPr>
          <a:xfrm>
            <a:off x="4078224" y="5062850"/>
            <a:ext cx="669341" cy="983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A7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and update</a:t>
            </a:r>
            <a:endParaRPr lang="en-US" sz="600" dirty="0"/>
          </a:p>
        </p:txBody>
      </p:sp>
      <p:sp>
        <p:nvSpPr>
          <p:cNvPr id="111" name="path ad-edge"/>
          <p:cNvSpPr/>
          <p:nvPr/>
        </p:nvSpPr>
        <p:spPr>
          <a:xfrm flipV="1">
            <a:off x="6095390" y="4956231"/>
            <a:ext cx="914" cy="1033638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12" name="path ad-edge"/>
          <p:cNvSpPr/>
          <p:nvPr/>
        </p:nvSpPr>
        <p:spPr>
          <a:xfrm>
            <a:off x="6095848" y="4955774"/>
            <a:ext cx="887882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13" name="path ad-edge"/>
          <p:cNvSpPr/>
          <p:nvPr/>
        </p:nvSpPr>
        <p:spPr>
          <a:xfrm flipV="1">
            <a:off x="6983273" y="4889937"/>
            <a:ext cx="914" cy="6629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14" name="text ad-edge-label"/>
          <p:cNvSpPr/>
          <p:nvPr/>
        </p:nvSpPr>
        <p:spPr>
          <a:xfrm>
            <a:off x="6180155" y="5062850"/>
            <a:ext cx="838505" cy="983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A7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then synthesize</a:t>
            </a:r>
            <a:endParaRPr lang="en-US" sz="600" dirty="0"/>
          </a:p>
        </p:txBody>
      </p:sp>
      <p:sp>
        <p:nvSpPr>
          <p:cNvPr id="115" name="path ad-edge"/>
          <p:cNvSpPr/>
          <p:nvPr/>
        </p:nvSpPr>
        <p:spPr>
          <a:xfrm flipV="1">
            <a:off x="8321680" y="4956231"/>
            <a:ext cx="914" cy="1033638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16" name="path ad-edge"/>
          <p:cNvSpPr/>
          <p:nvPr/>
        </p:nvSpPr>
        <p:spPr>
          <a:xfrm flipH="1">
            <a:off x="7792060" y="4955774"/>
            <a:ext cx="530078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17" name="path ad-edge"/>
          <p:cNvSpPr/>
          <p:nvPr/>
        </p:nvSpPr>
        <p:spPr>
          <a:xfrm flipV="1">
            <a:off x="7791602" y="4889937"/>
            <a:ext cx="914" cy="6629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18" name="text ad-edge-label"/>
          <p:cNvSpPr/>
          <p:nvPr/>
        </p:nvSpPr>
        <p:spPr>
          <a:xfrm>
            <a:off x="7818577" y="5062850"/>
            <a:ext cx="821680" cy="983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A7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drift and gaps</a:t>
            </a:r>
            <a:endParaRPr lang="en-US" sz="600" dirty="0"/>
          </a:p>
        </p:txBody>
      </p:sp>
      <p:sp>
        <p:nvSpPr>
          <p:cNvPr id="119" name="path ad-edge"/>
          <p:cNvSpPr/>
          <p:nvPr/>
        </p:nvSpPr>
        <p:spPr>
          <a:xfrm flipH="1">
            <a:off x="8096921" y="3378799"/>
            <a:ext cx="914309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20" name="path ad-edge"/>
          <p:cNvSpPr/>
          <p:nvPr/>
        </p:nvSpPr>
        <p:spPr>
          <a:xfrm flipH="1">
            <a:off x="8653424" y="4319626"/>
            <a:ext cx="357805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1" name="path ad-edge"/>
          <p:cNvSpPr/>
          <p:nvPr/>
        </p:nvSpPr>
        <p:spPr>
          <a:xfrm>
            <a:off x="8652967" y="4320083"/>
            <a:ext cx="914" cy="1537198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2" name="path ad-edge"/>
          <p:cNvSpPr/>
          <p:nvPr/>
        </p:nvSpPr>
        <p:spPr>
          <a:xfrm flipH="1">
            <a:off x="6957212" y="5856823"/>
            <a:ext cx="1696212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3" name="path ad-edge"/>
          <p:cNvSpPr/>
          <p:nvPr/>
        </p:nvSpPr>
        <p:spPr>
          <a:xfrm>
            <a:off x="6956755" y="5857281"/>
            <a:ext cx="914" cy="132588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24" name="path ad-edge"/>
          <p:cNvSpPr/>
          <p:nvPr/>
        </p:nvSpPr>
        <p:spPr>
          <a:xfrm>
            <a:off x="6957212" y="6168268"/>
            <a:ext cx="198791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5" name="path ad-edge"/>
          <p:cNvSpPr/>
          <p:nvPr/>
        </p:nvSpPr>
        <p:spPr>
          <a:xfrm flipV="1">
            <a:off x="7155546" y="5817596"/>
            <a:ext cx="914" cy="351130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6" name="path ad-edge"/>
          <p:cNvSpPr/>
          <p:nvPr/>
        </p:nvSpPr>
        <p:spPr>
          <a:xfrm>
            <a:off x="7156003" y="5817138"/>
            <a:ext cx="1523939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7" name="path ad-edge"/>
          <p:cNvSpPr/>
          <p:nvPr/>
        </p:nvSpPr>
        <p:spPr>
          <a:xfrm flipV="1">
            <a:off x="8679485" y="5261000"/>
            <a:ext cx="914" cy="556595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28" name="path ad-edge"/>
          <p:cNvSpPr/>
          <p:nvPr/>
        </p:nvSpPr>
        <p:spPr>
          <a:xfrm>
            <a:off x="8679942" y="5260543"/>
            <a:ext cx="331287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29" name="text ad-edge-label"/>
          <p:cNvSpPr/>
          <p:nvPr/>
        </p:nvSpPr>
        <p:spPr>
          <a:xfrm>
            <a:off x="7388992" y="5632704"/>
            <a:ext cx="965241" cy="983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A7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answers, tables, slides</a:t>
            </a:r>
            <a:endParaRPr lang="en-US" sz="600" dirty="0"/>
          </a:p>
        </p:txBody>
      </p:sp>
      <p:sp>
        <p:nvSpPr>
          <p:cNvPr id="130" name="path ad-edge"/>
          <p:cNvSpPr/>
          <p:nvPr/>
        </p:nvSpPr>
        <p:spPr>
          <a:xfrm flipH="1">
            <a:off x="8679942" y="5446075"/>
            <a:ext cx="331287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31" name="path ad-edge"/>
          <p:cNvSpPr/>
          <p:nvPr/>
        </p:nvSpPr>
        <p:spPr>
          <a:xfrm flipV="1">
            <a:off x="8679485" y="4903196"/>
            <a:ext cx="914" cy="543336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32" name="path ad-edge"/>
          <p:cNvSpPr/>
          <p:nvPr/>
        </p:nvSpPr>
        <p:spPr>
          <a:xfrm flipH="1">
            <a:off x="7712598" y="4902738"/>
            <a:ext cx="967344" cy="914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none"/>
          </a:ln>
        </p:spPr>
      </p:sp>
      <p:sp>
        <p:nvSpPr>
          <p:cNvPr id="133" name="path ad-edge"/>
          <p:cNvSpPr/>
          <p:nvPr/>
        </p:nvSpPr>
        <p:spPr>
          <a:xfrm flipV="1">
            <a:off x="7712141" y="4850160"/>
            <a:ext cx="914" cy="53035"/>
          </a:xfrm>
          <a:prstGeom prst="line">
            <a:avLst/>
          </a:prstGeom>
          <a:noFill/>
          <a:ln w="15875">
            <a:solidFill>
              <a:srgbClr val="496478"/>
            </a:solidFill>
            <a:prstDash val="solid"/>
            <a:tailEnd type="triangle"/>
          </a:ln>
        </p:spPr>
      </p:sp>
      <p:sp>
        <p:nvSpPr>
          <p:cNvPr id="134" name="text ad-legend"/>
          <p:cNvSpPr/>
          <p:nvPr/>
        </p:nvSpPr>
        <p:spPr>
          <a:xfrm>
            <a:off x="477042" y="6686916"/>
            <a:ext cx="11476086" cy="1073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6" dirty="0">
                <a:solidFill>
                  <a:srgbClr val="68809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Reading tip: left to right for the architecture, then bottom row for the operating loop. The core shift vs classic RAG is that knowledge is compiled into a persistent wiki instead of being rediscovered from raw chunks on every query.</a:t>
            </a:r>
            <a:endParaRPr lang="en-US" sz="6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auto-diagram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llm-wiki-architecture-editable-fixed</dc:title>
  <dc:subject>Editable diagram export</dc:subject>
  <dc:creator>auto-diagram</dc:creator>
  <cp:lastModifiedBy>auto-diagram</cp:lastModifiedBy>
  <cp:revision>1</cp:revision>
  <dcterms:created xsi:type="dcterms:W3CDTF">2026-04-13T09:46:57Z</dcterms:created>
  <dcterms:modified xsi:type="dcterms:W3CDTF">2026-04-13T09:46:57Z</dcterms:modified>
</cp:coreProperties>
</file>